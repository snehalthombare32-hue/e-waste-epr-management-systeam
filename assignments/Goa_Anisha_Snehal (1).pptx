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North Goa</c:v>
                </c:pt>
              </c:strCache>
            </c:strRef>
          </c:tx>
          <c:spPr>
            <a:solidFill>
              <a:srgbClr val="0B4F4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IT &amp; Telecom</c:v>
                  </c:pt>
                  <c:pt idx="1">
                    <c:v>Consumer Elec.</c:v>
                  </c:pt>
                  <c:pt idx="2">
                    <c:v>Large/Small Equip.</c:v>
                  </c:pt>
                  <c:pt idx="3">
                    <c:v>Lighting</c:v>
                  </c:pt>
                  <c:pt idx="4">
                    <c:v>Batteries</c:v>
                  </c:pt>
                  <c:pt idx="5">
                    <c:v>Other</c:v>
                  </c:pt>
                </c:lvl>
              </c:multiLvlStrCache>
            </c:multiLvlStrRef>
          </c:cat>
          <c:val>
            <c:numRef>
              <c:f>Sheet1!$B$2:$B$7</c:f>
              <c:numCache>
                <c:formatCode>General</c:formatCode>
                <c:ptCount val="6"/>
                <c:pt idx="0">
                  <c:v>301027</c:v>
                </c:pt>
                <c:pt idx="1">
                  <c:v>225770</c:v>
                </c:pt>
                <c:pt idx="2">
                  <c:v>188142</c:v>
                </c:pt>
                <c:pt idx="3">
                  <c:v>75257</c:v>
                </c:pt>
                <c:pt idx="4">
                  <c:v>94071</c:v>
                </c:pt>
                <c:pt idx="5">
                  <c:v>56442</c:v>
                </c:pt>
              </c:numCache>
            </c:numRef>
          </c:val>
        </c:ser>
        <c:ser>
          <c:idx val="1"/>
          <c:order val="1"/>
          <c:tx>
            <c:strRef>
              <c:f>Sheet1!$C$1</c:f>
              <c:strCache>
                <c:ptCount val="1"/>
                <c:pt idx="0">
                  <c:v>South Goa</c:v>
                </c:pt>
              </c:strCache>
            </c:strRef>
          </c:tx>
          <c:spPr>
            <a:solidFill>
              <a:srgbClr val="B5451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IT &amp; Telecom</c:v>
                  </c:pt>
                  <c:pt idx="1">
                    <c:v>Consumer Elec.</c:v>
                  </c:pt>
                  <c:pt idx="2">
                    <c:v>Large/Small Equip.</c:v>
                  </c:pt>
                  <c:pt idx="3">
                    <c:v>Lighting</c:v>
                  </c:pt>
                  <c:pt idx="4">
                    <c:v>Batteries</c:v>
                  </c:pt>
                  <c:pt idx="5">
                    <c:v>Other</c:v>
                  </c:pt>
                </c:lvl>
              </c:multiLvlStrCache>
            </c:multiLvlStrRef>
          </c:cat>
          <c:val>
            <c:numRef>
              <c:f>Sheet1!$C$2:$C$7</c:f>
              <c:numCache>
                <c:formatCode>General</c:formatCode>
                <c:ptCount val="6"/>
                <c:pt idx="0">
                  <c:v>235718</c:v>
                </c:pt>
                <c:pt idx="1">
                  <c:v>176788</c:v>
                </c:pt>
                <c:pt idx="2">
                  <c:v>147324</c:v>
                </c:pt>
                <c:pt idx="3">
                  <c:v>58929</c:v>
                </c:pt>
                <c:pt idx="4">
                  <c:v>73662</c:v>
                </c:pt>
                <c:pt idx="5">
                  <c:v>44197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7534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EDDD8"/>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kg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7534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1917"/>
                </a:solidFill>
                <a:latin typeface="Arial"/>
              </a:defRPr>
            </a:pPr>
            <a:r>
              <a:rPr sz="1250" b="0" i="0" u="none" strike="noStrike">
                <a:solidFill>
                  <a:srgbClr val="1C1917"/>
                </a:solidFill>
                <a:latin typeface="Arial"/>
              </a:rPr>
              <a:t>Generated vs. Collected, by District</a:t>
            </a:r>
          </a:p>
        </c:rich>
      </c:tx>
      <c:layout/>
      <c:overlay val="0"/>
    </c:title>
    <c:autoTitleDeleted val="0"/>
    <c:plotArea>
      <c:layout/>
      <c:barChart>
        <c:barDir val="col"/>
        <c:grouping val="clustered"/>
        <c:varyColors val="0"/>
        <c:ser>
          <c:idx val="0"/>
          <c:order val="0"/>
          <c:tx>
            <c:strRef>
              <c:f>Sheet1!$B$1</c:f>
              <c:strCache>
                <c:ptCount val="1"/>
                <c:pt idx="0">
                  <c:v>Generated (kg)</c:v>
                </c:pt>
              </c:strCache>
            </c:strRef>
          </c:tx>
          <c:spPr>
            <a:solidFill>
              <a:srgbClr val="D9D6CF"/>
            </a:solidFill>
            <a:effectLst/>
          </c:spPr>
          <c:invertIfNegative val="0"/>
          <c:dLbls>
            <c:numFmt formatCode="#,##0" sourceLinked="0"/>
            <c:txPr>
              <a:bodyPr/>
              <a:lstStyle/>
              <a:p>
                <a:pPr>
                  <a:defRPr b="0" i="0" strike="noStrike" sz="800" u="none">
                    <a:solidFill>
                      <a:srgbClr val="1C1917"/>
                    </a:solidFill>
                    <a:latin typeface="Arial"/>
                  </a:defRPr>
                </a:pPr>
              </a:p>
            </c:txPr>
            <c:showLegendKey val="0"/>
            <c:showVal val="1"/>
            <c:showCatName val="0"/>
            <c:showSerName val="0"/>
            <c:showPercent val="0"/>
            <c:showBubbleSize val="0"/>
            <c:showLeaderLines val="0"/>
          </c:dLbls>
          <c:cat>
            <c:multiLvlStrRef>
              <c:f>Sheet1!$A$2:$A$3</c:f>
              <c:multiLvlStrCache>
                <c:ptCount val="2"/>
                <c:lvl>
                  <c:pt idx="0">
                    <c:v>North Goa</c:v>
                  </c:pt>
                  <c:pt idx="1">
                    <c:v>South Goa</c:v>
                  </c:pt>
                </c:lvl>
              </c:multiLvlStrCache>
            </c:multiLvlStrRef>
          </c:cat>
          <c:val>
            <c:numRef>
              <c:f>Sheet1!$B$2:$B$3</c:f>
              <c:numCache>
                <c:formatCode>General</c:formatCode>
                <c:ptCount val="2"/>
                <c:pt idx="0">
                  <c:v>940709</c:v>
                </c:pt>
                <c:pt idx="1">
                  <c:v>736618</c:v>
                </c:pt>
              </c:numCache>
            </c:numRef>
          </c:val>
        </c:ser>
        <c:ser>
          <c:idx val="1"/>
          <c:order val="1"/>
          <c:tx>
            <c:strRef>
              <c:f>Sheet1!$C$1</c:f>
              <c:strCache>
                <c:ptCount val="1"/>
                <c:pt idx="0">
                  <c:v>Collected (kg)</c:v>
                </c:pt>
              </c:strCache>
            </c:strRef>
          </c:tx>
          <c:spPr>
            <a:solidFill>
              <a:srgbClr val="0B4F49"/>
            </a:solidFill>
            <a:effectLst/>
          </c:spPr>
          <c:invertIfNegative val="0"/>
          <c:dLbls>
            <c:numFmt formatCode="#,##0" sourceLinked="0"/>
            <c:txPr>
              <a:bodyPr/>
              <a:lstStyle/>
              <a:p>
                <a:pPr>
                  <a:defRPr b="0" i="0" strike="noStrike" sz="800" u="none">
                    <a:solidFill>
                      <a:srgbClr val="1C1917"/>
                    </a:solidFill>
                    <a:latin typeface="Arial"/>
                  </a:defRPr>
                </a:pPr>
              </a:p>
            </c:txPr>
            <c:showLegendKey val="0"/>
            <c:showVal val="1"/>
            <c:showCatName val="0"/>
            <c:showSerName val="0"/>
            <c:showPercent val="0"/>
            <c:showBubbleSize val="0"/>
            <c:showLeaderLines val="0"/>
          </c:dLbls>
          <c:cat>
            <c:multiLvlStrRef>
              <c:f>Sheet1!$A$2:$A$3</c:f>
              <c:multiLvlStrCache>
                <c:ptCount val="2"/>
                <c:lvl>
                  <c:pt idx="0">
                    <c:v>North Goa</c:v>
                  </c:pt>
                  <c:pt idx="1">
                    <c:v>South Goa</c:v>
                  </c:pt>
                </c:lvl>
              </c:multiLvlStrCache>
            </c:multiLvlStrRef>
          </c:cat>
          <c:val>
            <c:numRef>
              <c:f>Sheet1!$C$2:$C$3</c:f>
              <c:numCache>
                <c:formatCode>General</c:formatCode>
                <c:ptCount val="2"/>
                <c:pt idx="0">
                  <c:v>658500</c:v>
                </c:pt>
                <c:pt idx="1">
                  <c:v>478800</c:v>
                </c:pt>
              </c:numCache>
            </c:numRef>
          </c:val>
        </c:ser>
        <c:dLbls>
          <c:numFmt formatCode="#,##0" sourceLinked="0"/>
          <c:txPr>
            <a:bodyPr/>
            <a:lstStyle/>
            <a:p>
              <a:pPr>
                <a:defRPr b="0" i="0" strike="noStrike" sz="800" u="none">
                  <a:solidFill>
                    <a:srgbClr val="1C191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7534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E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7534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1917"/>
                </a:solidFill>
                <a:latin typeface="Arial"/>
              </a:defRPr>
            </a:pPr>
            <a:r>
              <a:rPr sz="1200" b="0" i="0" u="none" strike="noStrike">
                <a:solidFill>
                  <a:srgbClr val="1C1917"/>
                </a:solidFill>
                <a:latin typeface="Arial"/>
              </a:rPr>
              <a:t>Compliance Status (8 entities)</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0B4F49"/>
              </a:solidFill>
              <a:effectLst/>
            </c:spPr>
          </c:dPt>
          <c:dPt>
            <c:idx val="1"/>
            <c:bubble3D val="0"/>
            <c:spPr>
              <a:solidFill>
                <a:srgbClr val="A8710C"/>
              </a:solidFill>
              <a:effectLst/>
            </c:spPr>
          </c:dPt>
          <c:dPt>
            <c:idx val="2"/>
            <c:bubble3D val="0"/>
            <c:spPr>
              <a:solidFill>
                <a:srgbClr val="9B2C2C"/>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1"/>
              <c:numFmt formatCode="0"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2"/>
              <c:numFmt formatCode="0"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Compliant</c:v>
                </c:pt>
                <c:pt idx="1">
                  <c:v>Partially Compliant</c:v>
                </c:pt>
                <c:pt idx="2">
                  <c:v>Non-Compliant</c:v>
                </c:pt>
              </c:strCache>
            </c:strRef>
          </c:cat>
          <c:val>
            <c:numRef>
              <c:f>Sheet1!$B$2:$B$4</c:f>
              <c:numCache>
                <c:ptCount val="3"/>
                <c:pt idx="0">
                  <c:v>6</c:v>
                </c:pt>
                <c:pt idx="1">
                  <c:v>1</c:v>
                </c:pt>
                <c:pt idx="2">
                  <c:v>1</c:v>
                </c:pt>
              </c:numCache>
            </c:numRef>
          </c:val>
        </c:ser>
        <c:firstSliceAng val="0"/>
        <c:holeSize val="55"/>
      </c:doughnutChart>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BFBFA"/>
          </a:solidFill>
          <a:ln/>
        </p:spPr>
      </p:sp>
      <p:sp>
        <p:nvSpPr>
          <p:cNvPr id="3" name="Shape 1"/>
          <p:cNvSpPr/>
          <p:nvPr/>
        </p:nvSpPr>
        <p:spPr>
          <a:xfrm>
            <a:off x="0" y="0"/>
            <a:ext cx="4846320" cy="6858000"/>
          </a:xfrm>
          <a:prstGeom prst="rect">
            <a:avLst/>
          </a:prstGeom>
          <a:solidFill>
            <a:srgbClr val="22405C"/>
          </a:solidFill>
          <a:ln/>
        </p:spPr>
      </p:sp>
      <p:pic>
        <p:nvPicPr>
          <p:cNvPr id="4" name="Image 0" descr="/home/claude/goa_map.png">    </p:cNvPr>
          <p:cNvPicPr>
            <a:picLocks noChangeAspect="1"/>
          </p:cNvPicPr>
          <p:nvPr/>
        </p:nvPicPr>
        <p:blipFill>
          <a:blip r:embed="rId1"/>
          <a:stretch>
            <a:fillRect/>
          </a:stretch>
        </p:blipFill>
        <p:spPr>
          <a:xfrm>
            <a:off x="658368" y="320040"/>
            <a:ext cx="3520440" cy="5193792"/>
          </a:xfrm>
          <a:prstGeom prst="rect">
            <a:avLst/>
          </a:prstGeom>
        </p:spPr>
      </p:pic>
      <p:sp>
        <p:nvSpPr>
          <p:cNvPr id="5" name="Shape 2"/>
          <p:cNvSpPr/>
          <p:nvPr/>
        </p:nvSpPr>
        <p:spPr>
          <a:xfrm>
            <a:off x="822960" y="5623560"/>
            <a:ext cx="256032" cy="256032"/>
          </a:xfrm>
          <a:prstGeom prst="rect">
            <a:avLst/>
          </a:prstGeom>
          <a:solidFill>
            <a:srgbClr val="0F6E66"/>
          </a:solidFill>
          <a:ln/>
        </p:spPr>
      </p:sp>
      <p:sp>
        <p:nvSpPr>
          <p:cNvPr id="6" name="Text 3"/>
          <p:cNvSpPr/>
          <p:nvPr/>
        </p:nvSpPr>
        <p:spPr>
          <a:xfrm>
            <a:off x="1170432" y="5596128"/>
            <a:ext cx="1645920" cy="310896"/>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North Goa</a:t>
            </a:r>
            <a:endParaRPr lang="en-US" sz="1100" dirty="0"/>
          </a:p>
        </p:txBody>
      </p:sp>
      <p:sp>
        <p:nvSpPr>
          <p:cNvPr id="7" name="Shape 4"/>
          <p:cNvSpPr/>
          <p:nvPr/>
        </p:nvSpPr>
        <p:spPr>
          <a:xfrm>
            <a:off x="2651760" y="5623560"/>
            <a:ext cx="256032" cy="256032"/>
          </a:xfrm>
          <a:prstGeom prst="rect">
            <a:avLst/>
          </a:prstGeom>
          <a:solidFill>
            <a:srgbClr val="B5451B"/>
          </a:solidFill>
          <a:ln/>
        </p:spPr>
      </p:sp>
      <p:sp>
        <p:nvSpPr>
          <p:cNvPr id="8" name="Text 5"/>
          <p:cNvSpPr/>
          <p:nvPr/>
        </p:nvSpPr>
        <p:spPr>
          <a:xfrm>
            <a:off x="2999232" y="5596128"/>
            <a:ext cx="1645920" cy="310896"/>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South Goa</a:t>
            </a:r>
            <a:endParaRPr lang="en-US" sz="1100" dirty="0"/>
          </a:p>
        </p:txBody>
      </p:sp>
      <p:sp>
        <p:nvSpPr>
          <p:cNvPr id="9" name="Text 6"/>
          <p:cNvSpPr/>
          <p:nvPr/>
        </p:nvSpPr>
        <p:spPr>
          <a:xfrm>
            <a:off x="5486400" y="1554480"/>
            <a:ext cx="6126480" cy="365760"/>
          </a:xfrm>
          <a:prstGeom prst="rect">
            <a:avLst/>
          </a:prstGeom>
          <a:noFill/>
          <a:ln/>
        </p:spPr>
        <p:txBody>
          <a:bodyPr wrap="square" rtlCol="0" anchor="ctr"/>
          <a:lstStyle/>
          <a:p>
            <a:pPr indent="0" marL="0">
              <a:buNone/>
            </a:pPr>
            <a:r>
              <a:rPr lang="en-US" sz="1300" b="1" spc="200" kern="0" dirty="0">
                <a:solidFill>
                  <a:srgbClr val="A8710C"/>
                </a:solidFill>
                <a:latin typeface="Arial" pitchFamily="34" charset="0"/>
                <a:ea typeface="Arial" pitchFamily="34" charset="-122"/>
                <a:cs typeface="Arial" pitchFamily="34" charset="-120"/>
              </a:rPr>
              <a:t>A GOA E-WASTE TRACKER BRIEFING</a:t>
            </a:r>
            <a:endParaRPr lang="en-US" sz="1300" dirty="0"/>
          </a:p>
        </p:txBody>
      </p:sp>
      <p:sp>
        <p:nvSpPr>
          <p:cNvPr id="10" name="Text 7"/>
          <p:cNvSpPr/>
          <p:nvPr/>
        </p:nvSpPr>
        <p:spPr>
          <a:xfrm>
            <a:off x="5486400" y="1965960"/>
            <a:ext cx="6309360" cy="1371600"/>
          </a:xfrm>
          <a:prstGeom prst="rect">
            <a:avLst/>
          </a:prstGeom>
          <a:noFill/>
          <a:ln/>
        </p:spPr>
        <p:txBody>
          <a:bodyPr wrap="square" rtlCol="0" anchor="ctr"/>
          <a:lstStyle/>
          <a:p>
            <a:pPr indent="0" marL="0">
              <a:buNone/>
            </a:pPr>
            <a:r>
              <a:rPr lang="en-US" sz="4000" b="1" dirty="0">
                <a:solidFill>
                  <a:srgbClr val="1C1917"/>
                </a:solidFill>
                <a:latin typeface="Georgia" pitchFamily="34" charset="0"/>
                <a:ea typeface="Georgia" pitchFamily="34" charset="-122"/>
                <a:cs typeface="Georgia" pitchFamily="34" charset="-120"/>
              </a:rPr>
              <a:t>Goa's E-Waste Reckoning</a:t>
            </a:r>
            <a:endParaRPr lang="en-US" sz="4000" dirty="0"/>
          </a:p>
        </p:txBody>
      </p:sp>
      <p:sp>
        <p:nvSpPr>
          <p:cNvPr id="11" name="Text 8"/>
          <p:cNvSpPr/>
          <p:nvPr/>
        </p:nvSpPr>
        <p:spPr>
          <a:xfrm>
            <a:off x="5486400" y="3246120"/>
            <a:ext cx="6126480" cy="822960"/>
          </a:xfrm>
          <a:prstGeom prst="rect">
            <a:avLst/>
          </a:prstGeom>
          <a:noFill/>
          <a:ln/>
        </p:spPr>
        <p:txBody>
          <a:bodyPr wrap="square" rtlCol="0" anchor="ctr"/>
          <a:lstStyle/>
          <a:p>
            <a:pPr indent="0" marL="0">
              <a:buNone/>
            </a:pPr>
            <a:r>
              <a:rPr lang="en-US" sz="1500" i="1" dirty="0">
                <a:solidFill>
                  <a:srgbClr val="57534E"/>
                </a:solidFill>
                <a:latin typeface="Arial" pitchFamily="34" charset="0"/>
                <a:ea typeface="Arial" pitchFamily="34" charset="-122"/>
                <a:cs typeface="Arial" pitchFamily="34" charset="-120"/>
              </a:rPr>
              <a:t>A district-level scorecard of generation, collection, recycling and compliance across North and South Goa</a:t>
            </a:r>
            <a:endParaRPr lang="en-US" sz="1500" dirty="0"/>
          </a:p>
        </p:txBody>
      </p:sp>
      <p:sp>
        <p:nvSpPr>
          <p:cNvPr id="12" name="Text 9"/>
          <p:cNvSpPr/>
          <p:nvPr/>
        </p:nvSpPr>
        <p:spPr>
          <a:xfrm>
            <a:off x="5486400" y="5989320"/>
            <a:ext cx="6126480" cy="548640"/>
          </a:xfrm>
          <a:prstGeom prst="rect">
            <a:avLst/>
          </a:prstGeom>
          <a:noFill/>
          <a:ln/>
        </p:spPr>
        <p:txBody>
          <a:bodyPr wrap="square" rtlCol="0" anchor="ctr"/>
          <a:lstStyle/>
          <a:p>
            <a:pPr indent="0" marL="0">
              <a:buNone/>
            </a:pPr>
            <a:r>
              <a:rPr lang="en-US" sz="1050" dirty="0">
                <a:solidFill>
                  <a:srgbClr val="8A857C"/>
                </a:solidFill>
                <a:latin typeface="Arial" pitchFamily="34" charset="0"/>
                <a:ea typeface="Arial" pitchFamily="34" charset="-122"/>
                <a:cs typeface="Arial" pitchFamily="34" charset="-120"/>
              </a:rPr>
              <a:t>Compiled from the Goa E-Waste Tracker (GSPCB / CPCB, E-Waste Management Rules 2022)  ·  Fiscal Year 2025-26  ·  Data current to 31 March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B5451B"/>
                </a:solidFill>
                <a:latin typeface="Arial" pitchFamily="34" charset="0"/>
                <a:ea typeface="Arial" pitchFamily="34" charset="-122"/>
                <a:cs typeface="Arial" pitchFamily="34" charset="-120"/>
              </a:rPr>
              <a:t>GENERATION &amp; INVENTORY</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The Scale of the Problem</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State-wide e-waste generation, by district and category</a:t>
            </a:r>
            <a:endParaRPr lang="en-US" sz="1350" dirty="0"/>
          </a:p>
        </p:txBody>
      </p:sp>
      <p:sp>
        <p:nvSpPr>
          <p:cNvPr id="5" name="Shape 3"/>
          <p:cNvSpPr/>
          <p:nvPr/>
        </p:nvSpPr>
        <p:spPr>
          <a:xfrm>
            <a:off x="548640" y="1783080"/>
            <a:ext cx="2331720" cy="1234440"/>
          </a:xfrm>
          <a:prstGeom prst="rect">
            <a:avLst/>
          </a:prstGeom>
          <a:solidFill>
            <a:srgbClr val="F4F5F3"/>
          </a:solidFill>
          <a:ln/>
        </p:spPr>
      </p:sp>
      <p:sp>
        <p:nvSpPr>
          <p:cNvPr id="6" name="Text 4"/>
          <p:cNvSpPr/>
          <p:nvPr/>
        </p:nvSpPr>
        <p:spPr>
          <a:xfrm>
            <a:off x="685800" y="1892808"/>
            <a:ext cx="2057400" cy="678942"/>
          </a:xfrm>
          <a:prstGeom prst="rect">
            <a:avLst/>
          </a:prstGeom>
          <a:noFill/>
          <a:ln/>
        </p:spPr>
        <p:txBody>
          <a:bodyPr wrap="square" rtlCol="0" anchor="b"/>
          <a:lstStyle/>
          <a:p>
            <a:pPr algn="l" indent="0" marL="0">
              <a:buNone/>
            </a:pPr>
            <a:r>
              <a:rPr lang="en-US" sz="2700" b="1" dirty="0">
                <a:solidFill>
                  <a:srgbClr val="B5451B"/>
                </a:solidFill>
                <a:latin typeface="Georgia" pitchFamily="34" charset="0"/>
                <a:ea typeface="Georgia" pitchFamily="34" charset="-122"/>
                <a:cs typeface="Georgia" pitchFamily="34" charset="-120"/>
              </a:rPr>
              <a:t>1,677.3 t</a:t>
            </a:r>
            <a:endParaRPr lang="en-US" sz="2700" dirty="0"/>
          </a:p>
        </p:txBody>
      </p:sp>
      <p:sp>
        <p:nvSpPr>
          <p:cNvPr id="7" name="Text 5"/>
          <p:cNvSpPr/>
          <p:nvPr/>
        </p:nvSpPr>
        <p:spPr>
          <a:xfrm>
            <a:off x="68580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TOTAL STATE GENERATION / YR</a:t>
            </a:r>
            <a:endParaRPr lang="en-US" sz="950" dirty="0"/>
          </a:p>
        </p:txBody>
      </p:sp>
      <p:sp>
        <p:nvSpPr>
          <p:cNvPr id="8" name="Shape 6"/>
          <p:cNvSpPr/>
          <p:nvPr/>
        </p:nvSpPr>
        <p:spPr>
          <a:xfrm>
            <a:off x="3017520" y="1783080"/>
            <a:ext cx="2331720" cy="1234440"/>
          </a:xfrm>
          <a:prstGeom prst="rect">
            <a:avLst/>
          </a:prstGeom>
          <a:solidFill>
            <a:srgbClr val="F4F5F3"/>
          </a:solidFill>
          <a:ln/>
        </p:spPr>
      </p:sp>
      <p:sp>
        <p:nvSpPr>
          <p:cNvPr id="9" name="Text 7"/>
          <p:cNvSpPr/>
          <p:nvPr/>
        </p:nvSpPr>
        <p:spPr>
          <a:xfrm>
            <a:off x="3154680" y="1892808"/>
            <a:ext cx="2057400" cy="678942"/>
          </a:xfrm>
          <a:prstGeom prst="rect">
            <a:avLst/>
          </a:prstGeom>
          <a:noFill/>
          <a:ln/>
        </p:spPr>
        <p:txBody>
          <a:bodyPr wrap="square" rtlCol="0" anchor="b"/>
          <a:lstStyle/>
          <a:p>
            <a:pPr algn="l" indent="0" marL="0">
              <a:buNone/>
            </a:pPr>
            <a:r>
              <a:rPr lang="en-US" sz="2700" b="1" dirty="0">
                <a:solidFill>
                  <a:srgbClr val="0B4F49"/>
                </a:solidFill>
                <a:latin typeface="Georgia" pitchFamily="34" charset="0"/>
                <a:ea typeface="Georgia" pitchFamily="34" charset="-122"/>
                <a:cs typeface="Georgia" pitchFamily="34" charset="-120"/>
              </a:rPr>
              <a:t>940.7 t</a:t>
            </a:r>
            <a:endParaRPr lang="en-US" sz="2700" dirty="0"/>
          </a:p>
        </p:txBody>
      </p:sp>
      <p:sp>
        <p:nvSpPr>
          <p:cNvPr id="10" name="Text 8"/>
          <p:cNvSpPr/>
          <p:nvPr/>
        </p:nvSpPr>
        <p:spPr>
          <a:xfrm>
            <a:off x="315468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NORTH GOA (56.1%)</a:t>
            </a:r>
            <a:endParaRPr lang="en-US" sz="950" dirty="0"/>
          </a:p>
        </p:txBody>
      </p:sp>
      <p:sp>
        <p:nvSpPr>
          <p:cNvPr id="11" name="Shape 9"/>
          <p:cNvSpPr/>
          <p:nvPr/>
        </p:nvSpPr>
        <p:spPr>
          <a:xfrm>
            <a:off x="5486400" y="1783080"/>
            <a:ext cx="2331720" cy="1234440"/>
          </a:xfrm>
          <a:prstGeom prst="rect">
            <a:avLst/>
          </a:prstGeom>
          <a:solidFill>
            <a:srgbClr val="F4F5F3"/>
          </a:solidFill>
          <a:ln/>
        </p:spPr>
      </p:sp>
      <p:sp>
        <p:nvSpPr>
          <p:cNvPr id="12" name="Text 10"/>
          <p:cNvSpPr/>
          <p:nvPr/>
        </p:nvSpPr>
        <p:spPr>
          <a:xfrm>
            <a:off x="5623560" y="1892808"/>
            <a:ext cx="2057400" cy="678942"/>
          </a:xfrm>
          <a:prstGeom prst="rect">
            <a:avLst/>
          </a:prstGeom>
          <a:noFill/>
          <a:ln/>
        </p:spPr>
        <p:txBody>
          <a:bodyPr wrap="square" rtlCol="0" anchor="b"/>
          <a:lstStyle/>
          <a:p>
            <a:pPr algn="l" indent="0" marL="0">
              <a:buNone/>
            </a:pPr>
            <a:r>
              <a:rPr lang="en-US" sz="2700" b="1" dirty="0">
                <a:solidFill>
                  <a:srgbClr val="0B4F49"/>
                </a:solidFill>
                <a:latin typeface="Georgia" pitchFamily="34" charset="0"/>
                <a:ea typeface="Georgia" pitchFamily="34" charset="-122"/>
                <a:cs typeface="Georgia" pitchFamily="34" charset="-120"/>
              </a:rPr>
              <a:t>736.6 t</a:t>
            </a:r>
            <a:endParaRPr lang="en-US" sz="2700" dirty="0"/>
          </a:p>
        </p:txBody>
      </p:sp>
      <p:sp>
        <p:nvSpPr>
          <p:cNvPr id="13" name="Text 11"/>
          <p:cNvSpPr/>
          <p:nvPr/>
        </p:nvSpPr>
        <p:spPr>
          <a:xfrm>
            <a:off x="562356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SOUTH GOA (43.9%)</a:t>
            </a:r>
            <a:endParaRPr lang="en-US" sz="950" dirty="0"/>
          </a:p>
        </p:txBody>
      </p:sp>
      <p:sp>
        <p:nvSpPr>
          <p:cNvPr id="14" name="Shape 12"/>
          <p:cNvSpPr/>
          <p:nvPr/>
        </p:nvSpPr>
        <p:spPr>
          <a:xfrm>
            <a:off x="7955280" y="1783080"/>
            <a:ext cx="3611880" cy="1234440"/>
          </a:xfrm>
          <a:prstGeom prst="rect">
            <a:avLst/>
          </a:prstGeom>
          <a:solidFill>
            <a:srgbClr val="F4F5F3"/>
          </a:solidFill>
          <a:ln/>
        </p:spPr>
      </p:sp>
      <p:sp>
        <p:nvSpPr>
          <p:cNvPr id="15" name="Text 13"/>
          <p:cNvSpPr/>
          <p:nvPr/>
        </p:nvSpPr>
        <p:spPr>
          <a:xfrm>
            <a:off x="8092440" y="1892808"/>
            <a:ext cx="3337560" cy="678942"/>
          </a:xfrm>
          <a:prstGeom prst="rect">
            <a:avLst/>
          </a:prstGeom>
          <a:noFill/>
          <a:ln/>
        </p:spPr>
        <p:txBody>
          <a:bodyPr wrap="square" rtlCol="0" anchor="b"/>
          <a:lstStyle/>
          <a:p>
            <a:pPr algn="l" indent="0" marL="0">
              <a:buNone/>
            </a:pPr>
            <a:r>
              <a:rPr lang="en-US" sz="2700" b="1" dirty="0">
                <a:solidFill>
                  <a:srgbClr val="A8710C"/>
                </a:solidFill>
                <a:latin typeface="Georgia" pitchFamily="34" charset="0"/>
                <a:ea typeface="Georgia" pitchFamily="34" charset="-122"/>
                <a:cs typeface="Georgia" pitchFamily="34" charset="-120"/>
              </a:rPr>
              <a:t>1.15 kg</a:t>
            </a:r>
            <a:endParaRPr lang="en-US" sz="2700" dirty="0"/>
          </a:p>
        </p:txBody>
      </p:sp>
      <p:sp>
        <p:nvSpPr>
          <p:cNvPr id="16" name="Text 14"/>
          <p:cNvSpPr/>
          <p:nvPr/>
        </p:nvSpPr>
        <p:spPr>
          <a:xfrm>
            <a:off x="8092440" y="2633472"/>
            <a:ext cx="333756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PER-CAPITA GENERATION / YR</a:t>
            </a:r>
            <a:endParaRPr lang="en-US" sz="950" dirty="0"/>
          </a:p>
        </p:txBody>
      </p:sp>
      <p:sp>
        <p:nvSpPr>
          <p:cNvPr id="17" name="Text 15"/>
          <p:cNvSpPr/>
          <p:nvPr/>
        </p:nvSpPr>
        <p:spPr>
          <a:xfrm>
            <a:off x="548640" y="3246120"/>
            <a:ext cx="7315200" cy="320040"/>
          </a:xfrm>
          <a:prstGeom prst="rect">
            <a:avLst/>
          </a:prstGeom>
          <a:noFill/>
          <a:ln/>
        </p:spPr>
        <p:txBody>
          <a:bodyPr wrap="square" rtlCol="0" anchor="ctr"/>
          <a:lstStyle/>
          <a:p>
            <a:pPr indent="0" marL="0">
              <a:buNone/>
            </a:pPr>
            <a:r>
              <a:rPr lang="en-US" sz="1300" b="1" dirty="0">
                <a:solidFill>
                  <a:srgbClr val="1C1917"/>
                </a:solidFill>
                <a:latin typeface="Arial" pitchFamily="34" charset="0"/>
                <a:ea typeface="Arial" pitchFamily="34" charset="-122"/>
                <a:cs typeface="Arial" pitchFamily="34" charset="-120"/>
              </a:rPr>
              <a:t>Category-Wise Breakup by District (kg)</a:t>
            </a:r>
            <a:endParaRPr lang="en-US" sz="1300" dirty="0"/>
          </a:p>
        </p:txBody>
      </p:sp>
      <p:graphicFrame>
        <p:nvGraphicFramePr>
          <p:cNvPr id="18" name="Chart 0" descr=""/>
          <p:cNvGraphicFramePr/>
          <p:nvPr/>
        </p:nvGraphicFramePr>
        <p:xfrm>
          <a:off x="457200" y="3611880"/>
          <a:ext cx="7452360" cy="288036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8183880" y="3246120"/>
            <a:ext cx="3520440" cy="3246120"/>
          </a:xfrm>
          <a:prstGeom prst="rect">
            <a:avLst/>
          </a:prstGeom>
          <a:solidFill>
            <a:srgbClr val="EFF2F1"/>
          </a:solidFill>
          <a:ln/>
        </p:spPr>
      </p:sp>
      <p:sp>
        <p:nvSpPr>
          <p:cNvPr id="20" name="Text 17"/>
          <p:cNvSpPr/>
          <p:nvPr/>
        </p:nvSpPr>
        <p:spPr>
          <a:xfrm>
            <a:off x="8412480" y="3401568"/>
            <a:ext cx="3108960" cy="292608"/>
          </a:xfrm>
          <a:prstGeom prst="rect">
            <a:avLst/>
          </a:prstGeom>
          <a:noFill/>
          <a:ln/>
        </p:spPr>
        <p:txBody>
          <a:bodyPr wrap="square" rtlCol="0" anchor="ctr"/>
          <a:lstStyle/>
          <a:p>
            <a:pPr indent="0" marL="0">
              <a:buNone/>
            </a:pPr>
            <a:r>
              <a:rPr lang="en-US" sz="1250" b="1" dirty="0">
                <a:solidFill>
                  <a:srgbClr val="1C1917"/>
                </a:solidFill>
                <a:latin typeface="Arial" pitchFamily="34" charset="0"/>
                <a:ea typeface="Arial" pitchFamily="34" charset="-122"/>
                <a:cs typeface="Arial" pitchFamily="34" charset="-120"/>
              </a:rPr>
              <a:t>District Snapshot</a:t>
            </a:r>
            <a:endParaRPr lang="en-US" sz="1250" dirty="0"/>
          </a:p>
        </p:txBody>
      </p:sp>
      <p:sp>
        <p:nvSpPr>
          <p:cNvPr id="21" name="Text 18"/>
          <p:cNvSpPr/>
          <p:nvPr/>
        </p:nvSpPr>
        <p:spPr>
          <a:xfrm>
            <a:off x="8412480" y="3767328"/>
            <a:ext cx="3154680" cy="2651760"/>
          </a:xfrm>
          <a:prstGeom prst="rect">
            <a:avLst/>
          </a:prstGeom>
          <a:noFill/>
          <a:ln/>
        </p:spPr>
        <p:txBody>
          <a:bodyPr wrap="square" rtlCol="0" anchor="t"/>
          <a:lstStyle/>
          <a:p>
            <a:pPr indent="0" marL="0">
              <a:lnSpc>
                <a:spcPct val="115000"/>
              </a:lnSpc>
              <a:buNone/>
            </a:pPr>
            <a:r>
              <a:rPr lang="en-US" sz="1150" b="1" dirty="0">
                <a:solidFill>
                  <a:srgbClr val="22405C"/>
                </a:solidFill>
                <a:latin typeface="Arial" pitchFamily="34" charset="0"/>
                <a:ea typeface="Arial" pitchFamily="34" charset="-122"/>
                <a:cs typeface="Arial" pitchFamily="34" charset="-120"/>
              </a:rPr>
              <a:t>North Goa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Population 818,008  ·  940.7 t generated
Largest category: IT &amp; Telecom (301.0 t)
</a:t>
            </a:r>
            <a:pPr indent="0" marL="0">
              <a:lnSpc>
                <a:spcPct val="115000"/>
              </a:lnSpc>
              <a:buNone/>
            </a:pPr>
            <a:r>
              <a:rPr lang="en-US" sz="1150" b="1" dirty="0">
                <a:solidFill>
                  <a:srgbClr val="22405C"/>
                </a:solidFill>
                <a:latin typeface="Arial" pitchFamily="34" charset="0"/>
                <a:ea typeface="Arial" pitchFamily="34" charset="-122"/>
                <a:cs typeface="Arial" pitchFamily="34" charset="-120"/>
              </a:rPr>
              <a:t>South Goa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Population 640,537  ·  736.6 t generated
Largest category: IT &amp; Telecom (235.7 t)
</a:t>
            </a:r>
            <a:pPr indent="0" marL="0">
              <a:lnSpc>
                <a:spcPct val="115000"/>
              </a:lnSpc>
              <a:buNone/>
            </a:pPr>
            <a:r>
              <a:rPr lang="en-US" sz="1050" b="1" dirty="0">
                <a:solidFill>
                  <a:srgbClr val="B5451B"/>
                </a:solidFill>
                <a:latin typeface="Arial" pitchFamily="34" charset="0"/>
                <a:ea typeface="Arial" pitchFamily="34" charset="-122"/>
                <a:cs typeface="Arial" pitchFamily="34" charset="-120"/>
              </a:rPr>
              <a:t>Read: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IT &amp; telecom and consumer electronics together account for over 46% of all e-waste generated statewide, consistent with rapid device replacement cycles.</a:t>
            </a:r>
            <a:endParaRPr lang="en-US" sz="1150" dirty="0"/>
          </a:p>
        </p:txBody>
      </p:sp>
      <p:sp>
        <p:nvSpPr>
          <p:cNvPr id="22" name="Text 19"/>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3" name="Text 20"/>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0B4F49"/>
                </a:solidFill>
                <a:latin typeface="Arial" pitchFamily="34" charset="0"/>
                <a:ea typeface="Arial" pitchFamily="34" charset="-122"/>
                <a:cs typeface="Arial" pitchFamily="34" charset="-120"/>
              </a:rPr>
              <a:t>COLLECTION PERFORMANCE</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The Collection Gap</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How much of what's generated is actually being collected</a:t>
            </a:r>
            <a:endParaRPr lang="en-US" sz="1350" dirty="0"/>
          </a:p>
        </p:txBody>
      </p:sp>
      <p:graphicFrame>
        <p:nvGraphicFramePr>
          <p:cNvPr id="5" name="Chart 0" descr=""/>
          <p:cNvGraphicFramePr/>
          <p:nvPr/>
        </p:nvGraphicFramePr>
        <p:xfrm>
          <a:off x="457200" y="1783080"/>
          <a:ext cx="557784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309360" y="1783080"/>
            <a:ext cx="2514600" cy="1371600"/>
          </a:xfrm>
          <a:prstGeom prst="rect">
            <a:avLst/>
          </a:prstGeom>
          <a:solidFill>
            <a:srgbClr val="F4F5F3"/>
          </a:solidFill>
          <a:ln/>
        </p:spPr>
      </p:sp>
      <p:sp>
        <p:nvSpPr>
          <p:cNvPr id="7" name="Text 4"/>
          <p:cNvSpPr/>
          <p:nvPr/>
        </p:nvSpPr>
        <p:spPr>
          <a:xfrm>
            <a:off x="6446520" y="1892808"/>
            <a:ext cx="2240280" cy="754380"/>
          </a:xfrm>
          <a:prstGeom prst="rect">
            <a:avLst/>
          </a:prstGeom>
          <a:noFill/>
          <a:ln/>
        </p:spPr>
        <p:txBody>
          <a:bodyPr wrap="square" rtlCol="0" anchor="b"/>
          <a:lstStyle/>
          <a:p>
            <a:pPr algn="l" indent="0" marL="0">
              <a:buNone/>
            </a:pPr>
            <a:r>
              <a:rPr lang="en-US" sz="2800" b="1" dirty="0">
                <a:solidFill>
                  <a:srgbClr val="0B4F49"/>
                </a:solidFill>
                <a:latin typeface="Georgia" pitchFamily="34" charset="0"/>
                <a:ea typeface="Georgia" pitchFamily="34" charset="-122"/>
                <a:cs typeface="Georgia" pitchFamily="34" charset="-120"/>
              </a:rPr>
              <a:t>67.8%</a:t>
            </a:r>
            <a:endParaRPr lang="en-US" sz="2800" dirty="0"/>
          </a:p>
        </p:txBody>
      </p:sp>
      <p:sp>
        <p:nvSpPr>
          <p:cNvPr id="8" name="Text 5"/>
          <p:cNvSpPr/>
          <p:nvPr/>
        </p:nvSpPr>
        <p:spPr>
          <a:xfrm>
            <a:off x="6446520" y="277063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STATE COLLECTION RATE</a:t>
            </a:r>
            <a:endParaRPr lang="en-US" sz="950" dirty="0"/>
          </a:p>
        </p:txBody>
      </p:sp>
      <p:sp>
        <p:nvSpPr>
          <p:cNvPr id="9" name="Shape 6"/>
          <p:cNvSpPr/>
          <p:nvPr/>
        </p:nvSpPr>
        <p:spPr>
          <a:xfrm>
            <a:off x="9006840" y="1783080"/>
            <a:ext cx="2514600" cy="1371600"/>
          </a:xfrm>
          <a:prstGeom prst="rect">
            <a:avLst/>
          </a:prstGeom>
          <a:solidFill>
            <a:srgbClr val="F4F5F3"/>
          </a:solidFill>
          <a:ln/>
        </p:spPr>
      </p:sp>
      <p:sp>
        <p:nvSpPr>
          <p:cNvPr id="10" name="Text 7"/>
          <p:cNvSpPr/>
          <p:nvPr/>
        </p:nvSpPr>
        <p:spPr>
          <a:xfrm>
            <a:off x="9144000" y="1892808"/>
            <a:ext cx="2240280" cy="754380"/>
          </a:xfrm>
          <a:prstGeom prst="rect">
            <a:avLst/>
          </a:prstGeom>
          <a:noFill/>
          <a:ln/>
        </p:spPr>
        <p:txBody>
          <a:bodyPr wrap="square" rtlCol="0" anchor="b"/>
          <a:lstStyle/>
          <a:p>
            <a:pPr algn="l" indent="0" marL="0">
              <a:buNone/>
            </a:pPr>
            <a:r>
              <a:rPr lang="en-US" sz="2800" b="1" dirty="0">
                <a:solidFill>
                  <a:srgbClr val="A8710C"/>
                </a:solidFill>
                <a:latin typeface="Georgia" pitchFamily="34" charset="0"/>
                <a:ea typeface="Georgia" pitchFamily="34" charset="-122"/>
                <a:cs typeface="Georgia" pitchFamily="34" charset="-120"/>
              </a:rPr>
              <a:t>78.5%</a:t>
            </a:r>
            <a:endParaRPr lang="en-US" sz="2800" dirty="0"/>
          </a:p>
        </p:txBody>
      </p:sp>
      <p:sp>
        <p:nvSpPr>
          <p:cNvPr id="11" name="Text 8"/>
          <p:cNvSpPr/>
          <p:nvPr/>
        </p:nvSpPr>
        <p:spPr>
          <a:xfrm>
            <a:off x="9144000" y="277063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EPR TARGET ACHIEVEMENT</a:t>
            </a:r>
            <a:endParaRPr lang="en-US" sz="950" dirty="0"/>
          </a:p>
        </p:txBody>
      </p:sp>
      <p:sp>
        <p:nvSpPr>
          <p:cNvPr id="12" name="Shape 9"/>
          <p:cNvSpPr/>
          <p:nvPr/>
        </p:nvSpPr>
        <p:spPr>
          <a:xfrm>
            <a:off x="6309360" y="3337560"/>
            <a:ext cx="2514600" cy="1280160"/>
          </a:xfrm>
          <a:prstGeom prst="rect">
            <a:avLst/>
          </a:prstGeom>
          <a:solidFill>
            <a:srgbClr val="F4F5F3"/>
          </a:solidFill>
          <a:ln/>
        </p:spPr>
      </p:sp>
      <p:sp>
        <p:nvSpPr>
          <p:cNvPr id="13" name="Text 10"/>
          <p:cNvSpPr/>
          <p:nvPr/>
        </p:nvSpPr>
        <p:spPr>
          <a:xfrm>
            <a:off x="6446520" y="3447288"/>
            <a:ext cx="2240280" cy="704088"/>
          </a:xfrm>
          <a:prstGeom prst="rect">
            <a:avLst/>
          </a:prstGeom>
          <a:noFill/>
          <a:ln/>
        </p:spPr>
        <p:txBody>
          <a:bodyPr wrap="square" rtlCol="0" anchor="b"/>
          <a:lstStyle/>
          <a:p>
            <a:pPr algn="l" indent="0" marL="0">
              <a:buNone/>
            </a:pPr>
            <a:r>
              <a:rPr lang="en-US" sz="2600" b="1" dirty="0">
                <a:solidFill>
                  <a:srgbClr val="22405C"/>
                </a:solidFill>
                <a:latin typeface="Georgia" pitchFamily="34" charset="0"/>
                <a:ea typeface="Georgia" pitchFamily="34" charset="-122"/>
                <a:cs typeface="Georgia" pitchFamily="34" charset="-120"/>
              </a:rPr>
              <a:t>32</a:t>
            </a:r>
            <a:endParaRPr lang="en-US" sz="2600" dirty="0"/>
          </a:p>
        </p:txBody>
      </p:sp>
      <p:sp>
        <p:nvSpPr>
          <p:cNvPr id="14" name="Text 11"/>
          <p:cNvSpPr/>
          <p:nvPr/>
        </p:nvSpPr>
        <p:spPr>
          <a:xfrm>
            <a:off x="6446520" y="42336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REGISTERED COLLECTION CENTERS</a:t>
            </a:r>
            <a:endParaRPr lang="en-US" sz="950" dirty="0"/>
          </a:p>
        </p:txBody>
      </p:sp>
      <p:sp>
        <p:nvSpPr>
          <p:cNvPr id="15" name="Shape 12"/>
          <p:cNvSpPr/>
          <p:nvPr/>
        </p:nvSpPr>
        <p:spPr>
          <a:xfrm>
            <a:off x="9006840" y="3337560"/>
            <a:ext cx="2514600" cy="1280160"/>
          </a:xfrm>
          <a:prstGeom prst="rect">
            <a:avLst/>
          </a:prstGeom>
          <a:solidFill>
            <a:srgbClr val="F4F5F3"/>
          </a:solidFill>
          <a:ln/>
        </p:spPr>
      </p:sp>
      <p:sp>
        <p:nvSpPr>
          <p:cNvPr id="16" name="Text 13"/>
          <p:cNvSpPr/>
          <p:nvPr/>
        </p:nvSpPr>
        <p:spPr>
          <a:xfrm>
            <a:off x="9144000" y="3447288"/>
            <a:ext cx="2240280" cy="704088"/>
          </a:xfrm>
          <a:prstGeom prst="rect">
            <a:avLst/>
          </a:prstGeom>
          <a:noFill/>
          <a:ln/>
        </p:spPr>
        <p:txBody>
          <a:bodyPr wrap="square" rtlCol="0" anchor="b"/>
          <a:lstStyle/>
          <a:p>
            <a:pPr algn="l" indent="0" marL="0">
              <a:buNone/>
            </a:pPr>
            <a:r>
              <a:rPr lang="en-US" sz="2600" b="1" dirty="0">
                <a:solidFill>
                  <a:srgbClr val="22405C"/>
                </a:solidFill>
                <a:latin typeface="Georgia" pitchFamily="34" charset="0"/>
                <a:ea typeface="Georgia" pitchFamily="34" charset="-122"/>
                <a:cs typeface="Georgia" pitchFamily="34" charset="-120"/>
              </a:rPr>
              <a:t>21.9</a:t>
            </a:r>
            <a:endParaRPr lang="en-US" sz="2600" dirty="0"/>
          </a:p>
        </p:txBody>
      </p:sp>
      <p:sp>
        <p:nvSpPr>
          <p:cNvPr id="17" name="Text 14"/>
          <p:cNvSpPr/>
          <p:nvPr/>
        </p:nvSpPr>
        <p:spPr>
          <a:xfrm>
            <a:off x="9144000" y="42336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CENTERS PER MILLION POPULATION</a:t>
            </a:r>
            <a:endParaRPr lang="en-US" sz="950" dirty="0"/>
          </a:p>
        </p:txBody>
      </p:sp>
      <p:sp>
        <p:nvSpPr>
          <p:cNvPr id="18" name="Shape 15"/>
          <p:cNvSpPr/>
          <p:nvPr/>
        </p:nvSpPr>
        <p:spPr>
          <a:xfrm>
            <a:off x="6309360" y="4800600"/>
            <a:ext cx="5212080" cy="1280160"/>
          </a:xfrm>
          <a:prstGeom prst="rect">
            <a:avLst/>
          </a:prstGeom>
          <a:solidFill>
            <a:srgbClr val="F4F5F3"/>
          </a:solidFill>
          <a:ln/>
        </p:spPr>
      </p:sp>
      <p:sp>
        <p:nvSpPr>
          <p:cNvPr id="19" name="Text 16"/>
          <p:cNvSpPr/>
          <p:nvPr/>
        </p:nvSpPr>
        <p:spPr>
          <a:xfrm>
            <a:off x="6492240" y="4892040"/>
            <a:ext cx="4892040" cy="1097280"/>
          </a:xfrm>
          <a:prstGeom prst="rect">
            <a:avLst/>
          </a:prstGeom>
          <a:noFill/>
          <a:ln/>
        </p:spPr>
        <p:txBody>
          <a:bodyPr wrap="square" rtlCol="0" anchor="t"/>
          <a:lstStyle/>
          <a:p>
            <a:pPr indent="0" marL="0">
              <a:lnSpc>
                <a:spcPct val="115000"/>
              </a:lnSpc>
              <a:buNone/>
            </a:pPr>
            <a:r>
              <a:rPr lang="en-US" sz="1050" b="1" dirty="0">
                <a:solidFill>
                  <a:srgbClr val="B5451B"/>
                </a:solidFill>
                <a:latin typeface="Arial" pitchFamily="34" charset="0"/>
                <a:ea typeface="Arial" pitchFamily="34" charset="-122"/>
                <a:cs typeface="Arial" pitchFamily="34" charset="-120"/>
              </a:rPr>
              <a:t>Read: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North Goa collects a larger share of its own generation (70.0%) than South Goa (65.0%), despite South Goa having fewer centers per capita. Statewide EPR collection targets (1,845 t) are running behind actual generation, a gap of roughly 21.5%.</a:t>
            </a:r>
            <a:endParaRPr lang="en-US" sz="1050" dirty="0"/>
          </a:p>
        </p:txBody>
      </p:sp>
      <p:sp>
        <p:nvSpPr>
          <p:cNvPr id="20" name="Text 17"/>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1" name="Text 18"/>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B5451B"/>
                </a:solidFill>
                <a:latin typeface="Arial" pitchFamily="34" charset="0"/>
                <a:ea typeface="Arial" pitchFamily="34" charset="-122"/>
                <a:cs typeface="Arial" pitchFamily="34" charset="-120"/>
              </a:rPr>
              <a:t>FORMAL RECYCLING &amp; TREATMENT</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The Recycling Paradox</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Authorized processors are handling more waste than the state generates this year</a:t>
            </a:r>
            <a:endParaRPr lang="en-US" sz="1350" dirty="0"/>
          </a:p>
        </p:txBody>
      </p:sp>
      <p:sp>
        <p:nvSpPr>
          <p:cNvPr id="5" name="Shape 3"/>
          <p:cNvSpPr/>
          <p:nvPr/>
        </p:nvSpPr>
        <p:spPr>
          <a:xfrm>
            <a:off x="548640" y="1783080"/>
            <a:ext cx="2651760" cy="1280160"/>
          </a:xfrm>
          <a:prstGeom prst="rect">
            <a:avLst/>
          </a:prstGeom>
          <a:solidFill>
            <a:srgbClr val="F4F5F3"/>
          </a:solidFill>
          <a:ln/>
        </p:spPr>
      </p:sp>
      <p:sp>
        <p:nvSpPr>
          <p:cNvPr id="6" name="Text 4"/>
          <p:cNvSpPr/>
          <p:nvPr/>
        </p:nvSpPr>
        <p:spPr>
          <a:xfrm>
            <a:off x="685800" y="1892808"/>
            <a:ext cx="2377440" cy="704088"/>
          </a:xfrm>
          <a:prstGeom prst="rect">
            <a:avLst/>
          </a:prstGeom>
          <a:noFill/>
          <a:ln/>
        </p:spPr>
        <p:txBody>
          <a:bodyPr wrap="square" rtlCol="0" anchor="b"/>
          <a:lstStyle/>
          <a:p>
            <a:pPr algn="l" indent="0" marL="0">
              <a:buNone/>
            </a:pPr>
            <a:r>
              <a:rPr lang="en-US" sz="2400" b="1" dirty="0">
                <a:solidFill>
                  <a:srgbClr val="22405C"/>
                </a:solidFill>
                <a:latin typeface="Georgia" pitchFamily="34" charset="0"/>
                <a:ea typeface="Georgia" pitchFamily="34" charset="-122"/>
                <a:cs typeface="Georgia" pitchFamily="34" charset="-120"/>
              </a:rPr>
              <a:t>3,300 t</a:t>
            </a:r>
            <a:endParaRPr lang="en-US" sz="2400" dirty="0"/>
          </a:p>
        </p:txBody>
      </p:sp>
      <p:sp>
        <p:nvSpPr>
          <p:cNvPr id="7" name="Text 5"/>
          <p:cNvSpPr/>
          <p:nvPr/>
        </p:nvSpPr>
        <p:spPr>
          <a:xfrm>
            <a:off x="685800" y="2679192"/>
            <a:ext cx="23774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INSTALLED ANNUAL CAPACITY</a:t>
            </a:r>
            <a:endParaRPr lang="en-US" sz="950" dirty="0"/>
          </a:p>
        </p:txBody>
      </p:sp>
      <p:sp>
        <p:nvSpPr>
          <p:cNvPr id="8" name="Shape 6"/>
          <p:cNvSpPr/>
          <p:nvPr/>
        </p:nvSpPr>
        <p:spPr>
          <a:xfrm>
            <a:off x="3337560" y="1783080"/>
            <a:ext cx="2651760" cy="1280160"/>
          </a:xfrm>
          <a:prstGeom prst="rect">
            <a:avLst/>
          </a:prstGeom>
          <a:solidFill>
            <a:srgbClr val="F4F5F3"/>
          </a:solidFill>
          <a:ln/>
        </p:spPr>
      </p:sp>
      <p:sp>
        <p:nvSpPr>
          <p:cNvPr id="9" name="Text 7"/>
          <p:cNvSpPr/>
          <p:nvPr/>
        </p:nvSpPr>
        <p:spPr>
          <a:xfrm>
            <a:off x="3474720" y="1892808"/>
            <a:ext cx="2377440" cy="704088"/>
          </a:xfrm>
          <a:prstGeom prst="rect">
            <a:avLst/>
          </a:prstGeom>
          <a:noFill/>
          <a:ln/>
        </p:spPr>
        <p:txBody>
          <a:bodyPr wrap="square" rtlCol="0" anchor="b"/>
          <a:lstStyle/>
          <a:p>
            <a:pPr algn="l" indent="0" marL="0">
              <a:buNone/>
            </a:pPr>
            <a:r>
              <a:rPr lang="en-US" sz="2400" b="1" dirty="0">
                <a:solidFill>
                  <a:srgbClr val="0B4F49"/>
                </a:solidFill>
                <a:latin typeface="Georgia" pitchFamily="34" charset="0"/>
                <a:ea typeface="Georgia" pitchFamily="34" charset="-122"/>
                <a:cs typeface="Georgia" pitchFamily="34" charset="-120"/>
              </a:rPr>
              <a:t>2,158 t</a:t>
            </a:r>
            <a:endParaRPr lang="en-US" sz="2400" dirty="0"/>
          </a:p>
        </p:txBody>
      </p:sp>
      <p:sp>
        <p:nvSpPr>
          <p:cNvPr id="10" name="Text 8"/>
          <p:cNvSpPr/>
          <p:nvPr/>
        </p:nvSpPr>
        <p:spPr>
          <a:xfrm>
            <a:off x="3474720" y="2679192"/>
            <a:ext cx="23774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QUANTITY PROCESSED THIS YEAR</a:t>
            </a:r>
            <a:endParaRPr lang="en-US" sz="950" dirty="0"/>
          </a:p>
        </p:txBody>
      </p:sp>
      <p:sp>
        <p:nvSpPr>
          <p:cNvPr id="11" name="Shape 9"/>
          <p:cNvSpPr/>
          <p:nvPr/>
        </p:nvSpPr>
        <p:spPr>
          <a:xfrm>
            <a:off x="6126480" y="1783080"/>
            <a:ext cx="2651760" cy="1280160"/>
          </a:xfrm>
          <a:prstGeom prst="rect">
            <a:avLst/>
          </a:prstGeom>
          <a:solidFill>
            <a:srgbClr val="F4F5F3"/>
          </a:solidFill>
          <a:ln/>
        </p:spPr>
      </p:sp>
      <p:sp>
        <p:nvSpPr>
          <p:cNvPr id="12" name="Text 10"/>
          <p:cNvSpPr/>
          <p:nvPr/>
        </p:nvSpPr>
        <p:spPr>
          <a:xfrm>
            <a:off x="6263640" y="1892808"/>
            <a:ext cx="2377440" cy="704088"/>
          </a:xfrm>
          <a:prstGeom prst="rect">
            <a:avLst/>
          </a:prstGeom>
          <a:noFill/>
          <a:ln/>
        </p:spPr>
        <p:txBody>
          <a:bodyPr wrap="square" rtlCol="0" anchor="b"/>
          <a:lstStyle/>
          <a:p>
            <a:pPr algn="l" indent="0" marL="0">
              <a:buNone/>
            </a:pPr>
            <a:r>
              <a:rPr lang="en-US" sz="2400" b="1" dirty="0">
                <a:solidFill>
                  <a:srgbClr val="0B4F49"/>
                </a:solidFill>
                <a:latin typeface="Georgia" pitchFamily="34" charset="0"/>
                <a:ea typeface="Georgia" pitchFamily="34" charset="-122"/>
                <a:cs typeface="Georgia" pitchFamily="34" charset="-120"/>
              </a:rPr>
              <a:t>65.4%</a:t>
            </a:r>
            <a:endParaRPr lang="en-US" sz="2400" dirty="0"/>
          </a:p>
        </p:txBody>
      </p:sp>
      <p:sp>
        <p:nvSpPr>
          <p:cNvPr id="13" name="Text 11"/>
          <p:cNvSpPr/>
          <p:nvPr/>
        </p:nvSpPr>
        <p:spPr>
          <a:xfrm>
            <a:off x="6263640" y="2679192"/>
            <a:ext cx="23774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CAPACITY UTILIZATION</a:t>
            </a:r>
            <a:endParaRPr lang="en-US" sz="950" dirty="0"/>
          </a:p>
        </p:txBody>
      </p:sp>
      <p:sp>
        <p:nvSpPr>
          <p:cNvPr id="14" name="Shape 12"/>
          <p:cNvSpPr/>
          <p:nvPr/>
        </p:nvSpPr>
        <p:spPr>
          <a:xfrm>
            <a:off x="8915400" y="1783080"/>
            <a:ext cx="2651760" cy="1280160"/>
          </a:xfrm>
          <a:prstGeom prst="rect">
            <a:avLst/>
          </a:prstGeom>
          <a:solidFill>
            <a:srgbClr val="F4F5F3"/>
          </a:solidFill>
          <a:ln/>
        </p:spPr>
      </p:sp>
      <p:sp>
        <p:nvSpPr>
          <p:cNvPr id="15" name="Text 13"/>
          <p:cNvSpPr/>
          <p:nvPr/>
        </p:nvSpPr>
        <p:spPr>
          <a:xfrm>
            <a:off x="9052560" y="1892808"/>
            <a:ext cx="2377440" cy="704088"/>
          </a:xfrm>
          <a:prstGeom prst="rect">
            <a:avLst/>
          </a:prstGeom>
          <a:noFill/>
          <a:ln/>
        </p:spPr>
        <p:txBody>
          <a:bodyPr wrap="square" rtlCol="0" anchor="b"/>
          <a:lstStyle/>
          <a:p>
            <a:pPr algn="l" indent="0" marL="0">
              <a:buNone/>
            </a:pPr>
            <a:r>
              <a:rPr lang="en-US" sz="2400" b="1" dirty="0">
                <a:solidFill>
                  <a:srgbClr val="A8710C"/>
                </a:solidFill>
                <a:latin typeface="Georgia" pitchFamily="34" charset="0"/>
                <a:ea typeface="Georgia" pitchFamily="34" charset="-122"/>
                <a:cs typeface="Georgia" pitchFamily="34" charset="-120"/>
              </a:rPr>
              <a:t>72.5%</a:t>
            </a:r>
            <a:endParaRPr lang="en-US" sz="2400" dirty="0"/>
          </a:p>
        </p:txBody>
      </p:sp>
      <p:sp>
        <p:nvSpPr>
          <p:cNvPr id="16" name="Text 14"/>
          <p:cNvSpPr/>
          <p:nvPr/>
        </p:nvSpPr>
        <p:spPr>
          <a:xfrm>
            <a:off x="9052560" y="2679192"/>
            <a:ext cx="23774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WEIGHTED MATERIAL RECOVERY</a:t>
            </a:r>
            <a:endParaRPr lang="en-US" sz="950" dirty="0"/>
          </a:p>
        </p:txBody>
      </p:sp>
      <p:sp>
        <p:nvSpPr>
          <p:cNvPr id="17" name="Text 15"/>
          <p:cNvSpPr/>
          <p:nvPr/>
        </p:nvSpPr>
        <p:spPr>
          <a:xfrm>
            <a:off x="548640" y="3246120"/>
            <a:ext cx="5486400" cy="292608"/>
          </a:xfrm>
          <a:prstGeom prst="rect">
            <a:avLst/>
          </a:prstGeom>
          <a:noFill/>
          <a:ln/>
        </p:spPr>
        <p:txBody>
          <a:bodyPr wrap="square" rtlCol="0" anchor="ctr"/>
          <a:lstStyle/>
          <a:p>
            <a:pPr indent="0" marL="0">
              <a:buNone/>
            </a:pPr>
            <a:r>
              <a:rPr lang="en-US" sz="1300" b="1" dirty="0">
                <a:solidFill>
                  <a:srgbClr val="1C1917"/>
                </a:solidFill>
                <a:latin typeface="Arial" pitchFamily="34" charset="0"/>
                <a:ea typeface="Arial" pitchFamily="34" charset="-122"/>
                <a:cs typeface="Arial" pitchFamily="34" charset="-120"/>
              </a:rPr>
              <a:t>Authorized Recyclers &amp; Dismantlers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7452360" cy="2286000"/>
        </p:xfrm>
        <a:graphic>
          <a:graphicData uri="http://schemas.openxmlformats.org/drawingml/2006/table">
            <a:tbl>
              <a:tblPr/>
              <a:tblGrid>
                <a:gridCol w="2788920"/>
                <a:gridCol w="1417320"/>
                <a:gridCol w="1097280"/>
                <a:gridCol w="1097280"/>
                <a:gridCol w="1051560"/>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Recycler / Dismantler</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District</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Capacity</a:t>
                      </a:r>
                      <a:endParaRPr lang="en-US" sz="1000" dirty="0">
                        <a:latin typeface="Arial" charset="0"/>
                        <a:ea typeface="Arial" charset="0"/>
                        <a:cs typeface="Arial" charset="0"/>
                      </a:endParaRPr>
                    </a:p>
                    <a:p>
                      <a:pPr indent="0" marL="0">
                        <a:buNone/>
                      </a:pPr>
                      <a:r>
                        <a:rPr lang="en-US" sz="1000" b="1" dirty="0">
                          <a:solidFill>
                            <a:srgbClr val="FFFFFF"/>
                          </a:solidFill>
                          <a:latin typeface="Arial" pitchFamily="34" charset="0"/>
                          <a:ea typeface="Arial" pitchFamily="34" charset="-122"/>
                          <a:cs typeface="Arial" pitchFamily="34" charset="-120"/>
                        </a:rPr>
                        <a:t>(t/yr)</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Processed</a:t>
                      </a:r>
                      <a:endParaRPr lang="en-US" sz="1000" dirty="0">
                        <a:latin typeface="Arial" charset="0"/>
                        <a:ea typeface="Arial" charset="0"/>
                        <a:cs typeface="Arial" charset="0"/>
                      </a:endParaRPr>
                    </a:p>
                    <a:p>
                      <a:pPr indent="0" marL="0">
                        <a:buNone/>
                      </a:pPr>
                      <a:r>
                        <a:rPr lang="en-US" sz="1000" b="1" dirty="0">
                          <a:solidFill>
                            <a:srgbClr val="FFFFFF"/>
                          </a:solidFill>
                          <a:latin typeface="Arial" pitchFamily="34" charset="0"/>
                          <a:ea typeface="Arial" pitchFamily="34" charset="-122"/>
                          <a:cs typeface="Arial" pitchFamily="34" charset="-120"/>
                        </a:rPr>
                        <a:t>(t)</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Recovery</a:t>
                      </a:r>
                      <a:endParaRPr lang="en-US" sz="1000" dirty="0">
                        <a:latin typeface="Arial" charset="0"/>
                        <a:ea typeface="Arial" charset="0"/>
                        <a:cs typeface="Arial" charset="0"/>
                      </a:endParaRPr>
                    </a:p>
                    <a:p>
                      <a:pPr indent="0" marL="0">
                        <a:buNone/>
                      </a:pPr>
                      <a:r>
                        <a:rPr lang="en-US" sz="1000" b="1" dirty="0">
                          <a:solidFill>
                            <a:srgbClr val="FFFFFF"/>
                          </a:solidFill>
                          <a:latin typeface="Arial" pitchFamily="34" charset="0"/>
                          <a:ea typeface="Arial" pitchFamily="34" charset="-122"/>
                          <a:cs typeface="Arial" pitchFamily="34" charset="-120"/>
                        </a:rPr>
                        <a:t>Rate</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r>
              <a:tr h="457200">
                <a:tc>
                  <a:txBody>
                    <a:bodyPr/>
                    <a:lstStyle/>
                    <a:p>
                      <a:pPr indent="0" marL="0">
                        <a:buNone/>
                      </a:pPr>
                      <a:r>
                        <a:rPr lang="en-US" sz="1000" dirty="0">
                          <a:solidFill>
                            <a:srgbClr val="1C1917"/>
                          </a:solidFill>
                          <a:latin typeface="Arial" pitchFamily="34" charset="0"/>
                          <a:ea typeface="Arial" pitchFamily="34" charset="-122"/>
                          <a:cs typeface="Arial" pitchFamily="34" charset="-120"/>
                        </a:rPr>
                        <a:t>Global E-Waste Mgmt. System (GEMS)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North Goa</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78</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76%</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57200">
                <a:tc>
                  <a:txBody>
                    <a:bodyPr/>
                    <a:lstStyle/>
                    <a:p>
                      <a:pPr indent="0" marL="0">
                        <a:buNone/>
                      </a:pPr>
                      <a:r>
                        <a:rPr lang="en-US" sz="1000" dirty="0">
                          <a:solidFill>
                            <a:srgbClr val="1C1917"/>
                          </a:solidFill>
                          <a:latin typeface="Arial" pitchFamily="34" charset="0"/>
                          <a:ea typeface="Arial" pitchFamily="34" charset="-122"/>
                          <a:cs typeface="Arial" pitchFamily="34" charset="-120"/>
                        </a:rPr>
                        <a:t>V Recycling Industries - Sao Jose</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South Goa</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1,500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980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74%</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57200">
                <a:tc>
                  <a:txBody>
                    <a:bodyPr/>
                    <a:lstStyle/>
                    <a:p>
                      <a:pPr indent="0" marL="0">
                        <a:buNone/>
                      </a:pPr>
                      <a:r>
                        <a:rPr lang="en-US" sz="1000" dirty="0">
                          <a:solidFill>
                            <a:srgbClr val="1C1917"/>
                          </a:solidFill>
                          <a:latin typeface="Arial" pitchFamily="34" charset="0"/>
                          <a:ea typeface="Arial" pitchFamily="34" charset="-122"/>
                          <a:cs typeface="Arial" pitchFamily="34" charset="-120"/>
                        </a:rPr>
                        <a:t>V Recycling Industries - Fatorda</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South Goa</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1,200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790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72%</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57200">
                <a:tc>
                  <a:txBody>
                    <a:bodyPr/>
                    <a:lstStyle/>
                    <a:p>
                      <a:pPr indent="0" marL="0">
                        <a:buNone/>
                      </a:pPr>
                      <a:r>
                        <a:rPr lang="en-US" sz="1000" dirty="0">
                          <a:solidFill>
                            <a:srgbClr val="1C1917"/>
                          </a:solidFill>
                          <a:latin typeface="Arial" pitchFamily="34" charset="0"/>
                          <a:ea typeface="Arial" pitchFamily="34" charset="-122"/>
                          <a:cs typeface="Arial" pitchFamily="34" charset="-120"/>
                        </a:rPr>
                        <a:t>Group TenPlus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Statewide</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500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310</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68%</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bl>
          </a:graphicData>
        </a:graphic>
      </p:graphicFrame>
      <p:sp>
        <p:nvSpPr>
          <p:cNvPr id="19" name="Shape 16"/>
          <p:cNvSpPr/>
          <p:nvPr/>
        </p:nvSpPr>
        <p:spPr>
          <a:xfrm>
            <a:off x="8183880" y="3246120"/>
            <a:ext cx="3520440" cy="2880360"/>
          </a:xfrm>
          <a:prstGeom prst="rect">
            <a:avLst/>
          </a:prstGeom>
          <a:solidFill>
            <a:srgbClr val="EFF2F1"/>
          </a:solidFill>
          <a:ln/>
        </p:spPr>
      </p:sp>
      <p:sp>
        <p:nvSpPr>
          <p:cNvPr id="20" name="Text 17"/>
          <p:cNvSpPr/>
          <p:nvPr/>
        </p:nvSpPr>
        <p:spPr>
          <a:xfrm>
            <a:off x="8412480" y="3401568"/>
            <a:ext cx="3108960" cy="292608"/>
          </a:xfrm>
          <a:prstGeom prst="rect">
            <a:avLst/>
          </a:prstGeom>
          <a:noFill/>
          <a:ln/>
        </p:spPr>
        <p:txBody>
          <a:bodyPr wrap="square" rtlCol="0" anchor="ctr"/>
          <a:lstStyle/>
          <a:p>
            <a:pPr indent="0" marL="0">
              <a:buNone/>
            </a:pPr>
            <a:r>
              <a:rPr lang="en-US" sz="1250" b="1" dirty="0">
                <a:solidFill>
                  <a:srgbClr val="1C1917"/>
                </a:solidFill>
                <a:latin typeface="Arial" pitchFamily="34" charset="0"/>
                <a:ea typeface="Arial" pitchFamily="34" charset="-122"/>
                <a:cs typeface="Arial" pitchFamily="34" charset="-120"/>
              </a:rPr>
              <a:t>Reading the Paradox</a:t>
            </a:r>
            <a:endParaRPr lang="en-US" sz="1250" dirty="0"/>
          </a:p>
        </p:txBody>
      </p:sp>
      <p:sp>
        <p:nvSpPr>
          <p:cNvPr id="21" name="Text 18"/>
          <p:cNvSpPr/>
          <p:nvPr/>
        </p:nvSpPr>
        <p:spPr>
          <a:xfrm>
            <a:off x="8412480" y="3749040"/>
            <a:ext cx="3154680" cy="2286000"/>
          </a:xfrm>
          <a:prstGeom prst="rect">
            <a:avLst/>
          </a:prstGeom>
          <a:noFill/>
          <a:ln/>
        </p:spPr>
        <p:txBody>
          <a:bodyPr wrap="square" rtlCol="0" anchor="t"/>
          <a:lstStyle/>
          <a:p>
            <a:pPr indent="0" marL="0">
              <a:lnSpc>
                <a:spcPct val="115000"/>
              </a:lnSpc>
              <a:buNone/>
            </a:pPr>
            <a:r>
              <a:rPr lang="en-US" sz="1050" dirty="0">
                <a:solidFill>
                  <a:srgbClr val="57534E"/>
                </a:solidFill>
                <a:latin typeface="Arial" pitchFamily="34" charset="0"/>
                <a:ea typeface="Arial" pitchFamily="34" charset="-122"/>
                <a:cs typeface="Arial" pitchFamily="34" charset="-120"/>
              </a:rPr>
              <a:t>Recyclers processed 2,158 t this year against 1,677.3 t of newly generated waste — </a:t>
            </a:r>
            <a:pPr indent="0" marL="0">
              <a:lnSpc>
                <a:spcPct val="115000"/>
              </a:lnSpc>
              <a:buNone/>
            </a:pPr>
            <a:r>
              <a:rPr lang="en-US" sz="1050" b="1" dirty="0">
                <a:solidFill>
                  <a:srgbClr val="B5451B"/>
                </a:solidFill>
                <a:latin typeface="Arial" pitchFamily="34" charset="0"/>
                <a:ea typeface="Arial" pitchFamily="34" charset="-122"/>
                <a:cs typeface="Arial" pitchFamily="34" charset="-120"/>
              </a:rPr>
              <a:t>128.6% of current-year generation.</a:t>
            </a:r>
            <a:pPr indent="0" marL="0">
              <a:lnSpc>
                <a:spcPct val="115000"/>
              </a:lnSpc>
              <a:buNone/>
            </a:pPr>
            <a:r>
              <a:rPr lang="en-US" sz="1050" dirty="0">
                <a:solidFill>
                  <a:srgbClr val="57534E"/>
                </a:solidFill>
                <a:latin typeface="Arial" pitchFamily="34" charset="0"/>
                <a:ea typeface="Arial" pitchFamily="34" charset="-122"/>
                <a:cs typeface="Arial" pitchFamily="34" charset="-120"/>
              </a:rPr>
              <a:t> This points to legacy stockpiles and informally-sourced material finally entering the formal chain — encouraging, but it also means official 'processed' figures overstate how much of </a:t>
            </a:r>
            <a:pPr indent="0" marL="0">
              <a:lnSpc>
                <a:spcPct val="115000"/>
              </a:lnSpc>
              <a:buNone/>
            </a:pPr>
            <a:r>
              <a:rPr lang="en-US" sz="1050" i="1" dirty="0">
                <a:solidFill>
                  <a:srgbClr val="57534E"/>
                </a:solidFill>
                <a:latin typeface="Arial" pitchFamily="34" charset="0"/>
                <a:ea typeface="Arial" pitchFamily="34" charset="-122"/>
                <a:cs typeface="Arial" pitchFamily="34" charset="-120"/>
              </a:rPr>
              <a:t>this year's</a:t>
            </a:r>
            <a:pPr indent="0" marL="0">
              <a:lnSpc>
                <a:spcPct val="115000"/>
              </a:lnSpc>
              <a:buNone/>
            </a:pPr>
            <a:r>
              <a:rPr lang="en-US" sz="1050" dirty="0">
                <a:solidFill>
                  <a:srgbClr val="57534E"/>
                </a:solidFill>
                <a:latin typeface="Arial" pitchFamily="34" charset="0"/>
                <a:ea typeface="Arial" pitchFamily="34" charset="-122"/>
                <a:cs typeface="Arial" pitchFamily="34" charset="-120"/>
              </a:rPr>
              <a:t> waste is actually captured.</a:t>
            </a:r>
            <a:endParaRPr lang="en-US" sz="1050" dirty="0"/>
          </a:p>
        </p:txBody>
      </p:sp>
      <p:sp>
        <p:nvSpPr>
          <p:cNvPr id="22" name="Text 19"/>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3" name="Text 20"/>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22405C"/>
                </a:solidFill>
                <a:latin typeface="Arial" pitchFamily="34" charset="0"/>
                <a:ea typeface="Arial" pitchFamily="34" charset="-122"/>
                <a:cs typeface="Arial" pitchFamily="34" charset="-120"/>
              </a:rPr>
              <a:t>REGULATORY COMPLIANCE</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Producers &amp; EPR Compliance</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8 registered EPR entities operating under GSPCB oversight</a:t>
            </a:r>
            <a:endParaRPr lang="en-US" sz="1350" dirty="0"/>
          </a:p>
        </p:txBody>
      </p:sp>
      <p:graphicFrame>
        <p:nvGraphicFramePr>
          <p:cNvPr id="5" name="Chart 0" descr=""/>
          <p:cNvGraphicFramePr/>
          <p:nvPr/>
        </p:nvGraphicFramePr>
        <p:xfrm>
          <a:off x="548640" y="169164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709160" y="1783080"/>
            <a:ext cx="2331720" cy="1234440"/>
          </a:xfrm>
          <a:prstGeom prst="rect">
            <a:avLst/>
          </a:prstGeom>
          <a:solidFill>
            <a:srgbClr val="F4F5F3"/>
          </a:solidFill>
          <a:ln/>
        </p:spPr>
      </p:sp>
      <p:sp>
        <p:nvSpPr>
          <p:cNvPr id="7" name="Text 4"/>
          <p:cNvSpPr/>
          <p:nvPr/>
        </p:nvSpPr>
        <p:spPr>
          <a:xfrm>
            <a:off x="4846320" y="1892808"/>
            <a:ext cx="2057400" cy="678942"/>
          </a:xfrm>
          <a:prstGeom prst="rect">
            <a:avLst/>
          </a:prstGeom>
          <a:noFill/>
          <a:ln/>
        </p:spPr>
        <p:txBody>
          <a:bodyPr wrap="square" rtlCol="0" anchor="b"/>
          <a:lstStyle/>
          <a:p>
            <a:pPr algn="l" indent="0" marL="0">
              <a:buNone/>
            </a:pPr>
            <a:r>
              <a:rPr lang="en-US" sz="2600" b="1" dirty="0">
                <a:solidFill>
                  <a:srgbClr val="22405C"/>
                </a:solidFill>
                <a:latin typeface="Georgia" pitchFamily="34" charset="0"/>
                <a:ea typeface="Georgia" pitchFamily="34" charset="-122"/>
                <a:cs typeface="Georgia" pitchFamily="34" charset="-120"/>
              </a:rPr>
              <a:t>87.5%</a:t>
            </a:r>
            <a:endParaRPr lang="en-US" sz="2600" dirty="0"/>
          </a:p>
        </p:txBody>
      </p:sp>
      <p:sp>
        <p:nvSpPr>
          <p:cNvPr id="8" name="Text 5"/>
          <p:cNvSpPr/>
          <p:nvPr/>
        </p:nvSpPr>
        <p:spPr>
          <a:xfrm>
            <a:off x="484632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INSPECTIONS CONDUCTED</a:t>
            </a:r>
            <a:endParaRPr lang="en-US" sz="950" dirty="0"/>
          </a:p>
        </p:txBody>
      </p:sp>
      <p:sp>
        <p:nvSpPr>
          <p:cNvPr id="9" name="Shape 6"/>
          <p:cNvSpPr/>
          <p:nvPr/>
        </p:nvSpPr>
        <p:spPr>
          <a:xfrm>
            <a:off x="7178040" y="1783080"/>
            <a:ext cx="2331720" cy="1234440"/>
          </a:xfrm>
          <a:prstGeom prst="rect">
            <a:avLst/>
          </a:prstGeom>
          <a:solidFill>
            <a:srgbClr val="F4F5F3"/>
          </a:solidFill>
          <a:ln/>
        </p:spPr>
      </p:sp>
      <p:sp>
        <p:nvSpPr>
          <p:cNvPr id="10" name="Text 7"/>
          <p:cNvSpPr/>
          <p:nvPr/>
        </p:nvSpPr>
        <p:spPr>
          <a:xfrm>
            <a:off x="7315200" y="1892808"/>
            <a:ext cx="2057400" cy="678942"/>
          </a:xfrm>
          <a:prstGeom prst="rect">
            <a:avLst/>
          </a:prstGeom>
          <a:noFill/>
          <a:ln/>
        </p:spPr>
        <p:txBody>
          <a:bodyPr wrap="square" rtlCol="0" anchor="b"/>
          <a:lstStyle/>
          <a:p>
            <a:pPr algn="l" indent="0" marL="0">
              <a:buNone/>
            </a:pPr>
            <a:r>
              <a:rPr lang="en-US" sz="2600" b="1" dirty="0">
                <a:solidFill>
                  <a:srgbClr val="0B4F49"/>
                </a:solidFill>
                <a:latin typeface="Georgia" pitchFamily="34" charset="0"/>
                <a:ea typeface="Georgia" pitchFamily="34" charset="-122"/>
                <a:cs typeface="Georgia" pitchFamily="34" charset="-120"/>
              </a:rPr>
              <a:t>75.0%</a:t>
            </a:r>
            <a:endParaRPr lang="en-US" sz="2600" dirty="0"/>
          </a:p>
        </p:txBody>
      </p:sp>
      <p:sp>
        <p:nvSpPr>
          <p:cNvPr id="11" name="Text 8"/>
          <p:cNvSpPr/>
          <p:nvPr/>
        </p:nvSpPr>
        <p:spPr>
          <a:xfrm>
            <a:off x="731520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FULLY COMPLIANT ENTITIES</a:t>
            </a:r>
            <a:endParaRPr lang="en-US" sz="950" dirty="0"/>
          </a:p>
        </p:txBody>
      </p:sp>
      <p:sp>
        <p:nvSpPr>
          <p:cNvPr id="12" name="Shape 9"/>
          <p:cNvSpPr/>
          <p:nvPr/>
        </p:nvSpPr>
        <p:spPr>
          <a:xfrm>
            <a:off x="9646920" y="1783080"/>
            <a:ext cx="1965960" cy="1234440"/>
          </a:xfrm>
          <a:prstGeom prst="rect">
            <a:avLst/>
          </a:prstGeom>
          <a:solidFill>
            <a:srgbClr val="F4F5F3"/>
          </a:solidFill>
          <a:ln/>
        </p:spPr>
      </p:sp>
      <p:sp>
        <p:nvSpPr>
          <p:cNvPr id="13" name="Text 10"/>
          <p:cNvSpPr/>
          <p:nvPr/>
        </p:nvSpPr>
        <p:spPr>
          <a:xfrm>
            <a:off x="9784080" y="1892808"/>
            <a:ext cx="1691640" cy="678942"/>
          </a:xfrm>
          <a:prstGeom prst="rect">
            <a:avLst/>
          </a:prstGeom>
          <a:noFill/>
          <a:ln/>
        </p:spPr>
        <p:txBody>
          <a:bodyPr wrap="square" rtlCol="0" anchor="b"/>
          <a:lstStyle/>
          <a:p>
            <a:pPr algn="l" indent="0" marL="0">
              <a:buNone/>
            </a:pPr>
            <a:r>
              <a:rPr lang="en-US" sz="2400" b="1" dirty="0">
                <a:solidFill>
                  <a:srgbClr val="9B2C2C"/>
                </a:solidFill>
                <a:latin typeface="Georgia" pitchFamily="34" charset="0"/>
                <a:ea typeface="Georgia" pitchFamily="34" charset="-122"/>
                <a:cs typeface="Georgia" pitchFamily="34" charset="-120"/>
              </a:rPr>
              <a:t>2</a:t>
            </a:r>
            <a:endParaRPr lang="en-US" sz="2400" dirty="0"/>
          </a:p>
        </p:txBody>
      </p:sp>
      <p:sp>
        <p:nvSpPr>
          <p:cNvPr id="14" name="Text 11"/>
          <p:cNvSpPr/>
          <p:nvPr/>
        </p:nvSpPr>
        <p:spPr>
          <a:xfrm>
            <a:off x="9784080" y="2633472"/>
            <a:ext cx="16916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PENALTIES</a:t>
            </a:r>
            <a:endParaRPr lang="en-US" sz="950" dirty="0"/>
          </a:p>
          <a:p>
            <a:pPr algn="l" indent="0" marL="0">
              <a:buNone/>
            </a:pPr>
            <a:r>
              <a:rPr lang="en-US" sz="950" spc="50" kern="0" dirty="0">
                <a:solidFill>
                  <a:srgbClr val="57534E"/>
                </a:solidFill>
                <a:latin typeface="Arial" pitchFamily="34" charset="0"/>
                <a:ea typeface="Arial" pitchFamily="34" charset="-122"/>
                <a:cs typeface="Arial" pitchFamily="34" charset="-120"/>
              </a:rPr>
              <a:t>UNRESOLVED</a:t>
            </a:r>
            <a:endParaRPr lang="en-US" sz="950" dirty="0"/>
          </a:p>
        </p:txBody>
      </p:sp>
      <p:sp>
        <p:nvSpPr>
          <p:cNvPr id="15" name="Shape 12"/>
          <p:cNvSpPr/>
          <p:nvPr/>
        </p:nvSpPr>
        <p:spPr>
          <a:xfrm>
            <a:off x="4709160" y="3246120"/>
            <a:ext cx="6903720" cy="2880360"/>
          </a:xfrm>
          <a:prstGeom prst="rect">
            <a:avLst/>
          </a:prstGeom>
          <a:solidFill>
            <a:srgbClr val="F4F5F3"/>
          </a:solidFill>
          <a:ln/>
        </p:spPr>
      </p:sp>
      <p:sp>
        <p:nvSpPr>
          <p:cNvPr id="16" name="Text 13"/>
          <p:cNvSpPr/>
          <p:nvPr/>
        </p:nvSpPr>
        <p:spPr>
          <a:xfrm>
            <a:off x="4937760" y="3401568"/>
            <a:ext cx="3657600" cy="292608"/>
          </a:xfrm>
          <a:prstGeom prst="rect">
            <a:avLst/>
          </a:prstGeom>
          <a:noFill/>
          <a:ln/>
        </p:spPr>
        <p:txBody>
          <a:bodyPr wrap="square" rtlCol="0" anchor="ctr"/>
          <a:lstStyle/>
          <a:p>
            <a:pPr indent="0" marL="0">
              <a:buNone/>
            </a:pPr>
            <a:r>
              <a:rPr lang="en-US" sz="1250" b="1" dirty="0">
                <a:solidFill>
                  <a:srgbClr val="1C1917"/>
                </a:solidFill>
                <a:latin typeface="Arial" pitchFamily="34" charset="0"/>
                <a:ea typeface="Arial" pitchFamily="34" charset="-122"/>
                <a:cs typeface="Arial" pitchFamily="34" charset="-120"/>
              </a:rPr>
              <a:t>Flagged Cases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37760" y="3767328"/>
          <a:ext cx="6446520" cy="1554480"/>
        </p:xfrm>
        <a:graphic>
          <a:graphicData uri="http://schemas.openxmlformats.org/drawingml/2006/table">
            <a:tbl>
              <a:tblPr/>
              <a:tblGrid>
                <a:gridCol w="1508760"/>
                <a:gridCol w="1783080"/>
                <a:gridCol w="1051560"/>
                <a:gridCol w="1188720"/>
                <a:gridCol w="91440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Entity</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Inspected</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Penalty Issued</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Resolved</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r>
              <a:tr h="384048">
                <a:tc>
                  <a:txBody>
                    <a:bodyPr/>
                    <a:lstStyle/>
                    <a:p>
                      <a:pPr indent="0" marL="0">
                        <a:buNone/>
                      </a:pPr>
                      <a:r>
                        <a:rPr lang="en-US" sz="1000" dirty="0">
                          <a:solidFill>
                            <a:srgbClr val="1C1917"/>
                          </a:solidFill>
                          <a:latin typeface="Arial" pitchFamily="34" charset="0"/>
                          <a:ea typeface="Arial" pitchFamily="34" charset="-122"/>
                          <a:cs typeface="Arial" pitchFamily="34" charset="-120"/>
                        </a:rPr>
                        <a:t>EPR/2024/GA/004</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Partially Compliant</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384048">
                <a:tc>
                  <a:txBody>
                    <a:bodyPr/>
                    <a:lstStyle/>
                    <a:p>
                      <a:pPr indent="0" marL="0">
                        <a:buNone/>
                      </a:pPr>
                      <a:r>
                        <a:rPr lang="en-US" sz="1000" dirty="0">
                          <a:solidFill>
                            <a:srgbClr val="1C1917"/>
                          </a:solidFill>
                          <a:latin typeface="Arial" pitchFamily="34" charset="0"/>
                          <a:ea typeface="Arial" pitchFamily="34" charset="-122"/>
                          <a:cs typeface="Arial" pitchFamily="34" charset="-120"/>
                        </a:rPr>
                        <a:t>EPR/2024/GA/005</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Compliant (self-reported)</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384048">
                <a:tc>
                  <a:txBody>
                    <a:bodyPr/>
                    <a:lstStyle/>
                    <a:p>
                      <a:pPr indent="0" marL="0">
                        <a:buNone/>
                      </a:pPr>
                      <a:r>
                        <a:rPr lang="en-US" sz="1000" dirty="0">
                          <a:solidFill>
                            <a:srgbClr val="1C1917"/>
                          </a:solidFill>
                          <a:latin typeface="Arial" pitchFamily="34" charset="0"/>
                          <a:ea typeface="Arial" pitchFamily="34" charset="-122"/>
                          <a:cs typeface="Arial" pitchFamily="34" charset="-120"/>
                        </a:rPr>
                        <a:t>EPR/2024/GA/007</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Non-Compliant</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00" dirty="0">
                          <a:solidFill>
                            <a:srgbClr val="1C1917"/>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bl>
          </a:graphicData>
        </a:graphic>
      </p:graphicFrame>
      <p:sp>
        <p:nvSpPr>
          <p:cNvPr id="18" name="Text 14"/>
          <p:cNvSpPr/>
          <p:nvPr/>
        </p:nvSpPr>
        <p:spPr>
          <a:xfrm>
            <a:off x="4937760" y="5440680"/>
            <a:ext cx="6492240" cy="594360"/>
          </a:xfrm>
          <a:prstGeom prst="rect">
            <a:avLst/>
          </a:prstGeom>
          <a:noFill/>
          <a:ln/>
        </p:spPr>
        <p:txBody>
          <a:bodyPr wrap="square" rtlCol="0" anchor="t"/>
          <a:lstStyle/>
          <a:p>
            <a:pPr indent="0" marL="0">
              <a:lnSpc>
                <a:spcPct val="115000"/>
              </a:lnSpc>
              <a:buNone/>
            </a:pPr>
            <a:r>
              <a:rPr lang="en-US" sz="1050" b="1" dirty="0">
                <a:solidFill>
                  <a:srgbClr val="B5451B"/>
                </a:solidFill>
                <a:latin typeface="Arial" pitchFamily="34" charset="0"/>
                <a:ea typeface="Arial" pitchFamily="34" charset="-122"/>
                <a:cs typeface="Arial" pitchFamily="34" charset="-120"/>
              </a:rPr>
              <a:t>Read: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Both show-cause cases (entities 004 and 007) remain unresolved, and one 'compliant' entity (005) has not yet been inspected — its status is self-reported only.</a:t>
            </a:r>
            <a:endParaRPr lang="en-US" sz="1050" dirty="0"/>
          </a:p>
        </p:txBody>
      </p:sp>
      <p:sp>
        <p:nvSpPr>
          <p:cNvPr id="19" name="Text 15"/>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0" name="Text 16"/>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A8710C"/>
                </a:solidFill>
                <a:latin typeface="Arial" pitchFamily="34" charset="0"/>
                <a:ea typeface="Arial" pitchFamily="34" charset="-122"/>
                <a:cs typeface="Arial" pitchFamily="34" charset="-120"/>
              </a:rPr>
              <a:t>INFORMAL SECTOR INTEGRATION</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Three Hotspots, One Blind Spot</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Informal recycling clusters remain only partially brought into the formal system</a:t>
            </a:r>
            <a:endParaRPr lang="en-US" sz="1350" dirty="0"/>
          </a:p>
        </p:txBody>
      </p:sp>
      <p:sp>
        <p:nvSpPr>
          <p:cNvPr id="5" name="Shape 3"/>
          <p:cNvSpPr/>
          <p:nvPr/>
        </p:nvSpPr>
        <p:spPr>
          <a:xfrm>
            <a:off x="548640" y="1783080"/>
            <a:ext cx="2331720" cy="1234440"/>
          </a:xfrm>
          <a:prstGeom prst="rect">
            <a:avLst/>
          </a:prstGeom>
          <a:solidFill>
            <a:srgbClr val="F4F5F3"/>
          </a:solidFill>
          <a:ln/>
        </p:spPr>
      </p:sp>
      <p:sp>
        <p:nvSpPr>
          <p:cNvPr id="6" name="Text 4"/>
          <p:cNvSpPr/>
          <p:nvPr/>
        </p:nvSpPr>
        <p:spPr>
          <a:xfrm>
            <a:off x="685800" y="1892808"/>
            <a:ext cx="2057400" cy="678942"/>
          </a:xfrm>
          <a:prstGeom prst="rect">
            <a:avLst/>
          </a:prstGeom>
          <a:noFill/>
          <a:ln/>
        </p:spPr>
        <p:txBody>
          <a:bodyPr wrap="square" rtlCol="0" anchor="b"/>
          <a:lstStyle/>
          <a:p>
            <a:pPr algn="l" indent="0" marL="0">
              <a:buNone/>
            </a:pPr>
            <a:r>
              <a:rPr lang="en-US" sz="2700" b="1" dirty="0">
                <a:solidFill>
                  <a:srgbClr val="A8710C"/>
                </a:solidFill>
                <a:latin typeface="Georgia" pitchFamily="34" charset="0"/>
                <a:ea typeface="Georgia" pitchFamily="34" charset="-122"/>
                <a:cs typeface="Georgia" pitchFamily="34" charset="-120"/>
              </a:rPr>
              <a:t>3</a:t>
            </a:r>
            <a:endParaRPr lang="en-US" sz="2700" dirty="0"/>
          </a:p>
        </p:txBody>
      </p:sp>
      <p:sp>
        <p:nvSpPr>
          <p:cNvPr id="7" name="Text 5"/>
          <p:cNvSpPr/>
          <p:nvPr/>
        </p:nvSpPr>
        <p:spPr>
          <a:xfrm>
            <a:off x="68580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KNOWN INFORMAL HOTSPOTS</a:t>
            </a:r>
            <a:endParaRPr lang="en-US" sz="950" dirty="0"/>
          </a:p>
        </p:txBody>
      </p:sp>
      <p:sp>
        <p:nvSpPr>
          <p:cNvPr id="8" name="Shape 6"/>
          <p:cNvSpPr/>
          <p:nvPr/>
        </p:nvSpPr>
        <p:spPr>
          <a:xfrm>
            <a:off x="3017520" y="1783080"/>
            <a:ext cx="2331720" cy="1234440"/>
          </a:xfrm>
          <a:prstGeom prst="rect">
            <a:avLst/>
          </a:prstGeom>
          <a:solidFill>
            <a:srgbClr val="F4F5F3"/>
          </a:solidFill>
          <a:ln/>
        </p:spPr>
      </p:sp>
      <p:sp>
        <p:nvSpPr>
          <p:cNvPr id="9" name="Text 7"/>
          <p:cNvSpPr/>
          <p:nvPr/>
        </p:nvSpPr>
        <p:spPr>
          <a:xfrm>
            <a:off x="3154680" y="1892808"/>
            <a:ext cx="2057400" cy="678942"/>
          </a:xfrm>
          <a:prstGeom prst="rect">
            <a:avLst/>
          </a:prstGeom>
          <a:noFill/>
          <a:ln/>
        </p:spPr>
        <p:txBody>
          <a:bodyPr wrap="square" rtlCol="0" anchor="b"/>
          <a:lstStyle/>
          <a:p>
            <a:pPr algn="l" indent="0" marL="0">
              <a:buNone/>
            </a:pPr>
            <a:r>
              <a:rPr lang="en-US" sz="2700" b="1" dirty="0">
                <a:solidFill>
                  <a:srgbClr val="A8710C"/>
                </a:solidFill>
                <a:latin typeface="Georgia" pitchFamily="34" charset="0"/>
                <a:ea typeface="Georgia" pitchFamily="34" charset="-122"/>
                <a:cs typeface="Georgia" pitchFamily="34" charset="-120"/>
              </a:rPr>
              <a:t>60</a:t>
            </a:r>
            <a:endParaRPr lang="en-US" sz="2700" dirty="0"/>
          </a:p>
        </p:txBody>
      </p:sp>
      <p:sp>
        <p:nvSpPr>
          <p:cNvPr id="10" name="Text 8"/>
          <p:cNvSpPr/>
          <p:nvPr/>
        </p:nvSpPr>
        <p:spPr>
          <a:xfrm>
            <a:off x="315468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ESTIMATED INFORMAL WORKERS</a:t>
            </a:r>
            <a:endParaRPr lang="en-US" sz="950" dirty="0"/>
          </a:p>
        </p:txBody>
      </p:sp>
      <p:sp>
        <p:nvSpPr>
          <p:cNvPr id="11" name="Shape 9"/>
          <p:cNvSpPr/>
          <p:nvPr/>
        </p:nvSpPr>
        <p:spPr>
          <a:xfrm>
            <a:off x="5486400" y="1783080"/>
            <a:ext cx="2331720" cy="1234440"/>
          </a:xfrm>
          <a:prstGeom prst="rect">
            <a:avLst/>
          </a:prstGeom>
          <a:solidFill>
            <a:srgbClr val="F4F5F3"/>
          </a:solidFill>
          <a:ln/>
        </p:spPr>
      </p:sp>
      <p:sp>
        <p:nvSpPr>
          <p:cNvPr id="12" name="Text 10"/>
          <p:cNvSpPr/>
          <p:nvPr/>
        </p:nvSpPr>
        <p:spPr>
          <a:xfrm>
            <a:off x="5623560" y="1892808"/>
            <a:ext cx="2057400" cy="678942"/>
          </a:xfrm>
          <a:prstGeom prst="rect">
            <a:avLst/>
          </a:prstGeom>
          <a:noFill/>
          <a:ln/>
        </p:spPr>
        <p:txBody>
          <a:bodyPr wrap="square" rtlCol="0" anchor="b"/>
          <a:lstStyle/>
          <a:p>
            <a:pPr algn="l" indent="0" marL="0">
              <a:buNone/>
            </a:pPr>
            <a:r>
              <a:rPr lang="en-US" sz="2400" b="1" dirty="0">
                <a:solidFill>
                  <a:srgbClr val="0B4F49"/>
                </a:solidFill>
                <a:latin typeface="Georgia" pitchFamily="34" charset="0"/>
                <a:ea typeface="Georgia" pitchFamily="34" charset="-122"/>
                <a:cs typeface="Georgia" pitchFamily="34" charset="-120"/>
              </a:rPr>
              <a:t>20 (33%)</a:t>
            </a:r>
            <a:endParaRPr lang="en-US" sz="2400" dirty="0"/>
          </a:p>
        </p:txBody>
      </p:sp>
      <p:sp>
        <p:nvSpPr>
          <p:cNvPr id="13" name="Text 11"/>
          <p:cNvSpPr/>
          <p:nvPr/>
        </p:nvSpPr>
        <p:spPr>
          <a:xfrm>
            <a:off x="5623560" y="2633472"/>
            <a:ext cx="205740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WORKERS REGISTERED / TRAINED</a:t>
            </a:r>
            <a:endParaRPr lang="en-US" sz="950" dirty="0"/>
          </a:p>
        </p:txBody>
      </p:sp>
      <p:sp>
        <p:nvSpPr>
          <p:cNvPr id="14" name="Shape 12"/>
          <p:cNvSpPr/>
          <p:nvPr/>
        </p:nvSpPr>
        <p:spPr>
          <a:xfrm>
            <a:off x="7955280" y="1783080"/>
            <a:ext cx="3611880" cy="1234440"/>
          </a:xfrm>
          <a:prstGeom prst="rect">
            <a:avLst/>
          </a:prstGeom>
          <a:solidFill>
            <a:srgbClr val="F4F5F3"/>
          </a:solidFill>
          <a:ln/>
        </p:spPr>
      </p:sp>
      <p:sp>
        <p:nvSpPr>
          <p:cNvPr id="15" name="Text 13"/>
          <p:cNvSpPr/>
          <p:nvPr/>
        </p:nvSpPr>
        <p:spPr>
          <a:xfrm>
            <a:off x="8092440" y="1892808"/>
            <a:ext cx="3337560" cy="678942"/>
          </a:xfrm>
          <a:prstGeom prst="rect">
            <a:avLst/>
          </a:prstGeom>
          <a:noFill/>
          <a:ln/>
        </p:spPr>
        <p:txBody>
          <a:bodyPr wrap="square" rtlCol="0" anchor="b"/>
          <a:lstStyle/>
          <a:p>
            <a:pPr algn="l" indent="0" marL="0">
              <a:buNone/>
            </a:pPr>
            <a:r>
              <a:rPr lang="en-US" sz="2700" b="1" dirty="0">
                <a:solidFill>
                  <a:srgbClr val="B5451B"/>
                </a:solidFill>
                <a:latin typeface="Georgia" pitchFamily="34" charset="0"/>
                <a:ea typeface="Georgia" pitchFamily="34" charset="-122"/>
                <a:cs typeface="Georgia" pitchFamily="34" charset="-120"/>
              </a:rPr>
              <a:t>0 of 3</a:t>
            </a:r>
            <a:endParaRPr lang="en-US" sz="2700" dirty="0"/>
          </a:p>
        </p:txBody>
      </p:sp>
      <p:sp>
        <p:nvSpPr>
          <p:cNvPr id="16" name="Text 14"/>
          <p:cNvSpPr/>
          <p:nvPr/>
        </p:nvSpPr>
        <p:spPr>
          <a:xfrm>
            <a:off x="8092440" y="2633472"/>
            <a:ext cx="333756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HOTSPOTS FULLY FORMALIZED</a:t>
            </a:r>
            <a:endParaRPr lang="en-US" sz="950" dirty="0"/>
          </a:p>
        </p:txBody>
      </p:sp>
      <p:sp>
        <p:nvSpPr>
          <p:cNvPr id="17" name="Shape 15"/>
          <p:cNvSpPr/>
          <p:nvPr/>
        </p:nvSpPr>
        <p:spPr>
          <a:xfrm>
            <a:off x="548640" y="3246120"/>
            <a:ext cx="3657600" cy="2880360"/>
          </a:xfrm>
          <a:prstGeom prst="rect">
            <a:avLst/>
          </a:prstGeom>
          <a:solidFill>
            <a:srgbClr val="EFF2F1"/>
          </a:solidFill>
          <a:ln/>
        </p:spPr>
      </p:sp>
      <p:sp>
        <p:nvSpPr>
          <p:cNvPr id="18" name="Text 16"/>
          <p:cNvSpPr/>
          <p:nvPr/>
        </p:nvSpPr>
        <p:spPr>
          <a:xfrm>
            <a:off x="749808" y="3410712"/>
            <a:ext cx="3255264" cy="274320"/>
          </a:xfrm>
          <a:prstGeom prst="rect">
            <a:avLst/>
          </a:prstGeom>
          <a:noFill/>
          <a:ln/>
        </p:spPr>
        <p:txBody>
          <a:bodyPr wrap="square" rtlCol="0" anchor="ctr"/>
          <a:lstStyle/>
          <a:p>
            <a:pPr indent="0" marL="0">
              <a:buNone/>
            </a:pPr>
            <a:r>
              <a:rPr lang="en-US" sz="950" b="1" spc="100" kern="0" dirty="0">
                <a:solidFill>
                  <a:srgbClr val="57534E"/>
                </a:solidFill>
                <a:latin typeface="Arial" pitchFamily="34" charset="0"/>
                <a:ea typeface="Arial" pitchFamily="34" charset="-122"/>
                <a:cs typeface="Arial" pitchFamily="34" charset="-120"/>
              </a:rPr>
              <a:t>NORTH GOA</a:t>
            </a:r>
            <a:endParaRPr lang="en-US" sz="950" dirty="0"/>
          </a:p>
        </p:txBody>
      </p:sp>
      <p:sp>
        <p:nvSpPr>
          <p:cNvPr id="19" name="Text 17"/>
          <p:cNvSpPr/>
          <p:nvPr/>
        </p:nvSpPr>
        <p:spPr>
          <a:xfrm>
            <a:off x="749808" y="3666744"/>
            <a:ext cx="3255264" cy="594360"/>
          </a:xfrm>
          <a:prstGeom prst="rect">
            <a:avLst/>
          </a:prstGeom>
          <a:noFill/>
          <a:ln/>
        </p:spPr>
        <p:txBody>
          <a:bodyPr wrap="square" rtlCol="0" anchor="ctr"/>
          <a:lstStyle/>
          <a:p>
            <a:pPr indent="0" marL="0">
              <a:buNone/>
            </a:pPr>
            <a:r>
              <a:rPr lang="en-US" sz="1500" b="1" dirty="0">
                <a:solidFill>
                  <a:srgbClr val="1C1917"/>
                </a:solidFill>
                <a:latin typeface="Georgia" pitchFamily="34" charset="0"/>
                <a:ea typeface="Georgia" pitchFamily="34" charset="-122"/>
                <a:cs typeface="Georgia" pitchFamily="34" charset="-120"/>
              </a:rPr>
              <a:t>Mapusa Market Belt</a:t>
            </a:r>
            <a:endParaRPr lang="en-US" sz="1500" dirty="0"/>
          </a:p>
        </p:txBody>
      </p:sp>
      <p:sp>
        <p:nvSpPr>
          <p:cNvPr id="20" name="Shape 18"/>
          <p:cNvSpPr/>
          <p:nvPr/>
        </p:nvSpPr>
        <p:spPr>
          <a:xfrm>
            <a:off x="749808" y="4325112"/>
            <a:ext cx="2103120" cy="292608"/>
          </a:xfrm>
          <a:prstGeom prst="rect">
            <a:avLst/>
          </a:prstGeom>
          <a:solidFill>
            <a:srgbClr val="A8710C"/>
          </a:solidFill>
          <a:ln/>
        </p:spPr>
      </p:sp>
      <p:sp>
        <p:nvSpPr>
          <p:cNvPr id="21" name="Text 19"/>
          <p:cNvSpPr/>
          <p:nvPr/>
        </p:nvSpPr>
        <p:spPr>
          <a:xfrm>
            <a:off x="749808" y="4325112"/>
            <a:ext cx="2103120" cy="29260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Partially Formalized</a:t>
            </a:r>
            <a:endParaRPr lang="en-US" sz="950" dirty="0"/>
          </a:p>
        </p:txBody>
      </p:sp>
      <p:sp>
        <p:nvSpPr>
          <p:cNvPr id="22" name="Text 20"/>
          <p:cNvSpPr/>
          <p:nvPr/>
        </p:nvSpPr>
        <p:spPr>
          <a:xfrm>
            <a:off x="749808" y="4800600"/>
            <a:ext cx="3255264" cy="1143000"/>
          </a:xfrm>
          <a:prstGeom prst="rect">
            <a:avLst/>
          </a:prstGeom>
          <a:noFill/>
          <a:ln/>
        </p:spPr>
        <p:txBody>
          <a:bodyPr wrap="square" rtlCol="0" anchor="t"/>
          <a:lstStyle/>
          <a:p>
            <a:pPr indent="0" marL="0">
              <a:lnSpc>
                <a:spcPct val="115000"/>
              </a:lnSpc>
              <a:buNone/>
            </a:pPr>
            <a:r>
              <a:rPr lang="en-US" sz="1050" b="1" dirty="0">
                <a:solidFill>
                  <a:srgbClr val="1C1917"/>
                </a:solidFill>
                <a:latin typeface="Arial" pitchFamily="34" charset="0"/>
                <a:ea typeface="Arial" pitchFamily="34" charset="-122"/>
                <a:cs typeface="Arial" pitchFamily="34" charset="-120"/>
              </a:rPr>
              <a:t>Workers: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25 est. / 10 trained
</a:t>
            </a:r>
            <a:pPr indent="0" marL="0">
              <a:lnSpc>
                <a:spcPct val="115000"/>
              </a:lnSpc>
              <a:buNone/>
            </a:pPr>
            <a:r>
              <a:rPr lang="en-US" sz="1050" b="1" dirty="0">
                <a:solidFill>
                  <a:srgbClr val="1C1917"/>
                </a:solidFill>
                <a:latin typeface="Arial" pitchFamily="34" charset="0"/>
                <a:ea typeface="Arial" pitchFamily="34" charset="-122"/>
                <a:cs typeface="Arial" pitchFamily="34" charset="-120"/>
              </a:rPr>
              <a:t>Action taken: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Awareness + registration drive by GSPCB/GEMS</a:t>
            </a:r>
            <a:endParaRPr lang="en-US" sz="1050" dirty="0"/>
          </a:p>
        </p:txBody>
      </p:sp>
      <p:sp>
        <p:nvSpPr>
          <p:cNvPr id="23" name="Shape 21"/>
          <p:cNvSpPr/>
          <p:nvPr/>
        </p:nvSpPr>
        <p:spPr>
          <a:xfrm>
            <a:off x="4370832" y="3246120"/>
            <a:ext cx="3657600" cy="2880360"/>
          </a:xfrm>
          <a:prstGeom prst="rect">
            <a:avLst/>
          </a:prstGeom>
          <a:solidFill>
            <a:srgbClr val="EFF2F1"/>
          </a:solidFill>
          <a:ln/>
        </p:spPr>
      </p:sp>
      <p:sp>
        <p:nvSpPr>
          <p:cNvPr id="24" name="Text 22"/>
          <p:cNvSpPr/>
          <p:nvPr/>
        </p:nvSpPr>
        <p:spPr>
          <a:xfrm>
            <a:off x="4572000" y="3410712"/>
            <a:ext cx="3255264" cy="274320"/>
          </a:xfrm>
          <a:prstGeom prst="rect">
            <a:avLst/>
          </a:prstGeom>
          <a:noFill/>
          <a:ln/>
        </p:spPr>
        <p:txBody>
          <a:bodyPr wrap="square" rtlCol="0" anchor="ctr"/>
          <a:lstStyle/>
          <a:p>
            <a:pPr indent="0" marL="0">
              <a:buNone/>
            </a:pPr>
            <a:r>
              <a:rPr lang="en-US" sz="950" b="1" spc="100" kern="0" dirty="0">
                <a:solidFill>
                  <a:srgbClr val="57534E"/>
                </a:solidFill>
                <a:latin typeface="Arial" pitchFamily="34" charset="0"/>
                <a:ea typeface="Arial" pitchFamily="34" charset="-122"/>
                <a:cs typeface="Arial" pitchFamily="34" charset="-120"/>
              </a:rPr>
              <a:t>SOUTH GOA</a:t>
            </a:r>
            <a:endParaRPr lang="en-US" sz="950" dirty="0"/>
          </a:p>
        </p:txBody>
      </p:sp>
      <p:sp>
        <p:nvSpPr>
          <p:cNvPr id="25" name="Text 23"/>
          <p:cNvSpPr/>
          <p:nvPr/>
        </p:nvSpPr>
        <p:spPr>
          <a:xfrm>
            <a:off x="4572000" y="3666744"/>
            <a:ext cx="3255264" cy="594360"/>
          </a:xfrm>
          <a:prstGeom prst="rect">
            <a:avLst/>
          </a:prstGeom>
          <a:noFill/>
          <a:ln/>
        </p:spPr>
        <p:txBody>
          <a:bodyPr wrap="square" rtlCol="0" anchor="ctr"/>
          <a:lstStyle/>
          <a:p>
            <a:pPr indent="0" marL="0">
              <a:buNone/>
            </a:pPr>
            <a:r>
              <a:rPr lang="en-US" sz="1500" b="1" dirty="0">
                <a:solidFill>
                  <a:srgbClr val="1C1917"/>
                </a:solidFill>
                <a:latin typeface="Georgia" pitchFamily="34" charset="0"/>
                <a:ea typeface="Georgia" pitchFamily="34" charset="-122"/>
                <a:cs typeface="Georgia" pitchFamily="34" charset="-120"/>
              </a:rPr>
              <a:t>Margao Market Belt</a:t>
            </a:r>
            <a:endParaRPr lang="en-US" sz="1500" dirty="0"/>
          </a:p>
        </p:txBody>
      </p:sp>
      <p:sp>
        <p:nvSpPr>
          <p:cNvPr id="26" name="Shape 24"/>
          <p:cNvSpPr/>
          <p:nvPr/>
        </p:nvSpPr>
        <p:spPr>
          <a:xfrm>
            <a:off x="4572000" y="4325112"/>
            <a:ext cx="2103120" cy="292608"/>
          </a:xfrm>
          <a:prstGeom prst="rect">
            <a:avLst/>
          </a:prstGeom>
          <a:solidFill>
            <a:srgbClr val="A8710C"/>
          </a:solidFill>
          <a:ln/>
        </p:spPr>
      </p:sp>
      <p:sp>
        <p:nvSpPr>
          <p:cNvPr id="27" name="Text 25"/>
          <p:cNvSpPr/>
          <p:nvPr/>
        </p:nvSpPr>
        <p:spPr>
          <a:xfrm>
            <a:off x="4572000" y="4325112"/>
            <a:ext cx="2103120" cy="29260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Partially Formalized</a:t>
            </a:r>
            <a:endParaRPr lang="en-US" sz="950" dirty="0"/>
          </a:p>
        </p:txBody>
      </p:sp>
      <p:sp>
        <p:nvSpPr>
          <p:cNvPr id="28" name="Text 26"/>
          <p:cNvSpPr/>
          <p:nvPr/>
        </p:nvSpPr>
        <p:spPr>
          <a:xfrm>
            <a:off x="4572000" y="4800600"/>
            <a:ext cx="3255264" cy="1143000"/>
          </a:xfrm>
          <a:prstGeom prst="rect">
            <a:avLst/>
          </a:prstGeom>
          <a:noFill/>
          <a:ln/>
        </p:spPr>
        <p:txBody>
          <a:bodyPr wrap="square" rtlCol="0" anchor="t"/>
          <a:lstStyle/>
          <a:p>
            <a:pPr indent="0" marL="0">
              <a:lnSpc>
                <a:spcPct val="115000"/>
              </a:lnSpc>
              <a:buNone/>
            </a:pPr>
            <a:r>
              <a:rPr lang="en-US" sz="1050" b="1" dirty="0">
                <a:solidFill>
                  <a:srgbClr val="1C1917"/>
                </a:solidFill>
                <a:latin typeface="Arial" pitchFamily="34" charset="0"/>
                <a:ea typeface="Arial" pitchFamily="34" charset="-122"/>
                <a:cs typeface="Arial" pitchFamily="34" charset="-120"/>
              </a:rPr>
              <a:t>Workers: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20 est. / 8 trained
</a:t>
            </a:r>
            <a:pPr indent="0" marL="0">
              <a:lnSpc>
                <a:spcPct val="115000"/>
              </a:lnSpc>
              <a:buNone/>
            </a:pPr>
            <a:r>
              <a:rPr lang="en-US" sz="1050" b="1" dirty="0">
                <a:solidFill>
                  <a:srgbClr val="1C1917"/>
                </a:solidFill>
                <a:latin typeface="Arial" pitchFamily="34" charset="0"/>
                <a:ea typeface="Arial" pitchFamily="34" charset="-122"/>
                <a:cs typeface="Arial" pitchFamily="34" charset="-120"/>
              </a:rPr>
              <a:t>Action taken: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Linked to V Recycling Industries as collection point</a:t>
            </a:r>
            <a:endParaRPr lang="en-US" sz="1050" dirty="0"/>
          </a:p>
        </p:txBody>
      </p:sp>
      <p:sp>
        <p:nvSpPr>
          <p:cNvPr id="29" name="Shape 27"/>
          <p:cNvSpPr/>
          <p:nvPr/>
        </p:nvSpPr>
        <p:spPr>
          <a:xfrm>
            <a:off x="8193024" y="3246120"/>
            <a:ext cx="3657600" cy="2880360"/>
          </a:xfrm>
          <a:prstGeom prst="rect">
            <a:avLst/>
          </a:prstGeom>
          <a:solidFill>
            <a:srgbClr val="EFF2F1"/>
          </a:solidFill>
          <a:ln/>
        </p:spPr>
      </p:sp>
      <p:sp>
        <p:nvSpPr>
          <p:cNvPr id="30" name="Text 28"/>
          <p:cNvSpPr/>
          <p:nvPr/>
        </p:nvSpPr>
        <p:spPr>
          <a:xfrm>
            <a:off x="8394192" y="3410712"/>
            <a:ext cx="3255264" cy="274320"/>
          </a:xfrm>
          <a:prstGeom prst="rect">
            <a:avLst/>
          </a:prstGeom>
          <a:noFill/>
          <a:ln/>
        </p:spPr>
        <p:txBody>
          <a:bodyPr wrap="square" rtlCol="0" anchor="ctr"/>
          <a:lstStyle/>
          <a:p>
            <a:pPr indent="0" marL="0">
              <a:buNone/>
            </a:pPr>
            <a:r>
              <a:rPr lang="en-US" sz="950" b="1" spc="100" kern="0" dirty="0">
                <a:solidFill>
                  <a:srgbClr val="57534E"/>
                </a:solidFill>
                <a:latin typeface="Arial" pitchFamily="34" charset="0"/>
                <a:ea typeface="Arial" pitchFamily="34" charset="-122"/>
                <a:cs typeface="Arial" pitchFamily="34" charset="-120"/>
              </a:rPr>
              <a:t>SOUTH GOA</a:t>
            </a:r>
            <a:endParaRPr lang="en-US" sz="950" dirty="0"/>
          </a:p>
        </p:txBody>
      </p:sp>
      <p:sp>
        <p:nvSpPr>
          <p:cNvPr id="31" name="Text 29"/>
          <p:cNvSpPr/>
          <p:nvPr/>
        </p:nvSpPr>
        <p:spPr>
          <a:xfrm>
            <a:off x="8394192" y="3666744"/>
            <a:ext cx="3255264" cy="594360"/>
          </a:xfrm>
          <a:prstGeom prst="rect">
            <a:avLst/>
          </a:prstGeom>
          <a:noFill/>
          <a:ln/>
        </p:spPr>
        <p:txBody>
          <a:bodyPr wrap="square" rtlCol="0" anchor="ctr"/>
          <a:lstStyle/>
          <a:p>
            <a:pPr indent="0" marL="0">
              <a:buNone/>
            </a:pPr>
            <a:r>
              <a:rPr lang="en-US" sz="1500" b="1" dirty="0">
                <a:solidFill>
                  <a:srgbClr val="1C1917"/>
                </a:solidFill>
                <a:latin typeface="Georgia" pitchFamily="34" charset="0"/>
                <a:ea typeface="Georgia" pitchFamily="34" charset="-122"/>
                <a:cs typeface="Georgia" pitchFamily="34" charset="-120"/>
              </a:rPr>
              <a:t>Vasco Industrial Belt</a:t>
            </a:r>
            <a:endParaRPr lang="en-US" sz="1500" dirty="0"/>
          </a:p>
        </p:txBody>
      </p:sp>
      <p:sp>
        <p:nvSpPr>
          <p:cNvPr id="32" name="Shape 30"/>
          <p:cNvSpPr/>
          <p:nvPr/>
        </p:nvSpPr>
        <p:spPr>
          <a:xfrm>
            <a:off x="8394192" y="4325112"/>
            <a:ext cx="2103120" cy="292608"/>
          </a:xfrm>
          <a:prstGeom prst="rect">
            <a:avLst/>
          </a:prstGeom>
          <a:solidFill>
            <a:srgbClr val="B5451B"/>
          </a:solidFill>
          <a:ln/>
        </p:spPr>
      </p:sp>
      <p:sp>
        <p:nvSpPr>
          <p:cNvPr id="33" name="Text 31"/>
          <p:cNvSpPr/>
          <p:nvPr/>
        </p:nvSpPr>
        <p:spPr>
          <a:xfrm>
            <a:off x="8394192" y="4325112"/>
            <a:ext cx="2103120" cy="29260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Not Formalized</a:t>
            </a:r>
            <a:endParaRPr lang="en-US" sz="950" dirty="0"/>
          </a:p>
        </p:txBody>
      </p:sp>
      <p:sp>
        <p:nvSpPr>
          <p:cNvPr id="34" name="Text 32"/>
          <p:cNvSpPr/>
          <p:nvPr/>
        </p:nvSpPr>
        <p:spPr>
          <a:xfrm>
            <a:off x="8394192" y="4800600"/>
            <a:ext cx="3255264" cy="1143000"/>
          </a:xfrm>
          <a:prstGeom prst="rect">
            <a:avLst/>
          </a:prstGeom>
          <a:noFill/>
          <a:ln/>
        </p:spPr>
        <p:txBody>
          <a:bodyPr wrap="square" rtlCol="0" anchor="t"/>
          <a:lstStyle/>
          <a:p>
            <a:pPr indent="0" marL="0">
              <a:lnSpc>
                <a:spcPct val="115000"/>
              </a:lnSpc>
              <a:buNone/>
            </a:pPr>
            <a:r>
              <a:rPr lang="en-US" sz="1050" b="1" dirty="0">
                <a:solidFill>
                  <a:srgbClr val="1C1917"/>
                </a:solidFill>
                <a:latin typeface="Arial" pitchFamily="34" charset="0"/>
                <a:ea typeface="Arial" pitchFamily="34" charset="-122"/>
                <a:cs typeface="Arial" pitchFamily="34" charset="-120"/>
              </a:rPr>
              <a:t>Workers: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15 est. / 2 trained
</a:t>
            </a:r>
            <a:pPr indent="0" marL="0">
              <a:lnSpc>
                <a:spcPct val="115000"/>
              </a:lnSpc>
              <a:buNone/>
            </a:pPr>
            <a:r>
              <a:rPr lang="en-US" sz="1050" b="1" dirty="0">
                <a:solidFill>
                  <a:srgbClr val="1C1917"/>
                </a:solidFill>
                <a:latin typeface="Arial" pitchFamily="34" charset="0"/>
                <a:ea typeface="Arial" pitchFamily="34" charset="-122"/>
                <a:cs typeface="Arial" pitchFamily="34" charset="-120"/>
              </a:rPr>
              <a:t>Action taken: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Initial survey only — formalization pending</a:t>
            </a:r>
            <a:endParaRPr lang="en-US" sz="1050" dirty="0"/>
          </a:p>
        </p:txBody>
      </p:sp>
      <p:sp>
        <p:nvSpPr>
          <p:cNvPr id="35" name="Text 33"/>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36" name="Text 34"/>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9B2C2C"/>
                </a:solidFill>
                <a:latin typeface="Arial" pitchFamily="34" charset="0"/>
                <a:ea typeface="Arial" pitchFamily="34" charset="-122"/>
                <a:cs typeface="Arial" pitchFamily="34" charset="-120"/>
              </a:rPr>
              <a:t>ENVIRONMENTAL &amp; HEALTH SAFEGUARDS</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What the Monitoring Found</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Soil, water and health surveillance at the state's informal hotspots</a:t>
            </a:r>
            <a:endParaRPr lang="en-US" sz="1350" dirty="0"/>
          </a:p>
        </p:txBody>
      </p:sp>
      <p:sp>
        <p:nvSpPr>
          <p:cNvPr id="5" name="Shape 3"/>
          <p:cNvSpPr/>
          <p:nvPr/>
        </p:nvSpPr>
        <p:spPr>
          <a:xfrm>
            <a:off x="548640" y="1783080"/>
            <a:ext cx="2514600" cy="1234440"/>
          </a:xfrm>
          <a:prstGeom prst="rect">
            <a:avLst/>
          </a:prstGeom>
          <a:solidFill>
            <a:srgbClr val="F4F5F3"/>
          </a:solidFill>
          <a:ln/>
        </p:spPr>
      </p:sp>
      <p:sp>
        <p:nvSpPr>
          <p:cNvPr id="6" name="Text 4"/>
          <p:cNvSpPr/>
          <p:nvPr/>
        </p:nvSpPr>
        <p:spPr>
          <a:xfrm>
            <a:off x="685800" y="1892808"/>
            <a:ext cx="2240280" cy="678942"/>
          </a:xfrm>
          <a:prstGeom prst="rect">
            <a:avLst/>
          </a:prstGeom>
          <a:noFill/>
          <a:ln/>
        </p:spPr>
        <p:txBody>
          <a:bodyPr wrap="square" rtlCol="0" anchor="b"/>
          <a:lstStyle/>
          <a:p>
            <a:pPr algn="l" indent="0" marL="0">
              <a:buNone/>
            </a:pPr>
            <a:r>
              <a:rPr lang="en-US" sz="2600" b="1" dirty="0">
                <a:solidFill>
                  <a:srgbClr val="22405C"/>
                </a:solidFill>
                <a:latin typeface="Georgia" pitchFamily="34" charset="0"/>
                <a:ea typeface="Georgia" pitchFamily="34" charset="-122"/>
                <a:cs typeface="Georgia" pitchFamily="34" charset="-120"/>
              </a:rPr>
              <a:t>3 of 3</a:t>
            </a:r>
            <a:endParaRPr lang="en-US" sz="2600" dirty="0"/>
          </a:p>
        </p:txBody>
      </p:sp>
      <p:sp>
        <p:nvSpPr>
          <p:cNvPr id="7" name="Text 5"/>
          <p:cNvSpPr/>
          <p:nvPr/>
        </p:nvSpPr>
        <p:spPr>
          <a:xfrm>
            <a:off x="685800" y="26334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HOTSPOTS MONITORED</a:t>
            </a:r>
            <a:endParaRPr lang="en-US" sz="950" dirty="0"/>
          </a:p>
        </p:txBody>
      </p:sp>
      <p:sp>
        <p:nvSpPr>
          <p:cNvPr id="8" name="Shape 6"/>
          <p:cNvSpPr/>
          <p:nvPr/>
        </p:nvSpPr>
        <p:spPr>
          <a:xfrm>
            <a:off x="3200400" y="1783080"/>
            <a:ext cx="2514600" cy="1234440"/>
          </a:xfrm>
          <a:prstGeom prst="rect">
            <a:avLst/>
          </a:prstGeom>
          <a:solidFill>
            <a:srgbClr val="F4F5F3"/>
          </a:solidFill>
          <a:ln/>
        </p:spPr>
      </p:sp>
      <p:sp>
        <p:nvSpPr>
          <p:cNvPr id="9" name="Text 7"/>
          <p:cNvSpPr/>
          <p:nvPr/>
        </p:nvSpPr>
        <p:spPr>
          <a:xfrm>
            <a:off x="3337560" y="1892808"/>
            <a:ext cx="2240280" cy="678942"/>
          </a:xfrm>
          <a:prstGeom prst="rect">
            <a:avLst/>
          </a:prstGeom>
          <a:noFill/>
          <a:ln/>
        </p:spPr>
        <p:txBody>
          <a:bodyPr wrap="square" rtlCol="0" anchor="b"/>
          <a:lstStyle/>
          <a:p>
            <a:pPr algn="l" indent="0" marL="0">
              <a:buNone/>
            </a:pPr>
            <a:r>
              <a:rPr lang="en-US" sz="2600" b="1" dirty="0">
                <a:solidFill>
                  <a:srgbClr val="0B4F49"/>
                </a:solidFill>
                <a:latin typeface="Georgia" pitchFamily="34" charset="0"/>
                <a:ea typeface="Georgia" pitchFamily="34" charset="-122"/>
                <a:cs typeface="Georgia" pitchFamily="34" charset="-120"/>
              </a:rPr>
              <a:t>2 of 3</a:t>
            </a:r>
            <a:endParaRPr lang="en-US" sz="2600" dirty="0"/>
          </a:p>
        </p:txBody>
      </p:sp>
      <p:sp>
        <p:nvSpPr>
          <p:cNvPr id="10" name="Text 8"/>
          <p:cNvSpPr/>
          <p:nvPr/>
        </p:nvSpPr>
        <p:spPr>
          <a:xfrm>
            <a:off x="3337560" y="26334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HEALTH CAMPS CONDUCTED</a:t>
            </a:r>
            <a:endParaRPr lang="en-US" sz="950" dirty="0"/>
          </a:p>
        </p:txBody>
      </p:sp>
      <p:sp>
        <p:nvSpPr>
          <p:cNvPr id="11" name="Shape 9"/>
          <p:cNvSpPr/>
          <p:nvPr/>
        </p:nvSpPr>
        <p:spPr>
          <a:xfrm>
            <a:off x="5852160" y="1783080"/>
            <a:ext cx="2514600" cy="1234440"/>
          </a:xfrm>
          <a:prstGeom prst="rect">
            <a:avLst/>
          </a:prstGeom>
          <a:solidFill>
            <a:srgbClr val="F4F5F3"/>
          </a:solidFill>
          <a:ln/>
        </p:spPr>
      </p:sp>
      <p:sp>
        <p:nvSpPr>
          <p:cNvPr id="12" name="Text 10"/>
          <p:cNvSpPr/>
          <p:nvPr/>
        </p:nvSpPr>
        <p:spPr>
          <a:xfrm>
            <a:off x="5989320" y="1892808"/>
            <a:ext cx="2240280" cy="678942"/>
          </a:xfrm>
          <a:prstGeom prst="rect">
            <a:avLst/>
          </a:prstGeom>
          <a:noFill/>
          <a:ln/>
        </p:spPr>
        <p:txBody>
          <a:bodyPr wrap="square" rtlCol="0" anchor="b"/>
          <a:lstStyle/>
          <a:p>
            <a:pPr algn="l" indent="0" marL="0">
              <a:buNone/>
            </a:pPr>
            <a:r>
              <a:rPr lang="en-US" sz="2600" b="1" dirty="0">
                <a:solidFill>
                  <a:srgbClr val="0B4F49"/>
                </a:solidFill>
                <a:latin typeface="Georgia" pitchFamily="34" charset="0"/>
                <a:ea typeface="Georgia" pitchFamily="34" charset="-122"/>
                <a:cs typeface="Georgia" pitchFamily="34" charset="-120"/>
              </a:rPr>
              <a:t>110</a:t>
            </a:r>
            <a:endParaRPr lang="en-US" sz="2600" dirty="0"/>
          </a:p>
        </p:txBody>
      </p:sp>
      <p:sp>
        <p:nvSpPr>
          <p:cNvPr id="13" name="Text 11"/>
          <p:cNvSpPr/>
          <p:nvPr/>
        </p:nvSpPr>
        <p:spPr>
          <a:xfrm>
            <a:off x="5989320" y="26334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BENEFICIARIES SCREENED</a:t>
            </a:r>
            <a:endParaRPr lang="en-US" sz="950" dirty="0"/>
          </a:p>
        </p:txBody>
      </p:sp>
      <p:sp>
        <p:nvSpPr>
          <p:cNvPr id="14" name="Shape 12"/>
          <p:cNvSpPr/>
          <p:nvPr/>
        </p:nvSpPr>
        <p:spPr>
          <a:xfrm>
            <a:off x="8503920" y="1783080"/>
            <a:ext cx="3108960" cy="1234440"/>
          </a:xfrm>
          <a:prstGeom prst="rect">
            <a:avLst/>
          </a:prstGeom>
          <a:solidFill>
            <a:srgbClr val="F4F5F3"/>
          </a:solidFill>
          <a:ln/>
        </p:spPr>
      </p:sp>
      <p:sp>
        <p:nvSpPr>
          <p:cNvPr id="15" name="Text 13"/>
          <p:cNvSpPr/>
          <p:nvPr/>
        </p:nvSpPr>
        <p:spPr>
          <a:xfrm>
            <a:off x="8641080" y="1892808"/>
            <a:ext cx="2834640" cy="678942"/>
          </a:xfrm>
          <a:prstGeom prst="rect">
            <a:avLst/>
          </a:prstGeom>
          <a:noFill/>
          <a:ln/>
        </p:spPr>
        <p:txBody>
          <a:bodyPr wrap="square" rtlCol="0" anchor="b"/>
          <a:lstStyle/>
          <a:p>
            <a:pPr algn="l" indent="0" marL="0">
              <a:buNone/>
            </a:pPr>
            <a:r>
              <a:rPr lang="en-US" sz="2400" b="1" dirty="0">
                <a:solidFill>
                  <a:srgbClr val="9B2C2C"/>
                </a:solidFill>
                <a:latin typeface="Georgia" pitchFamily="34" charset="0"/>
                <a:ea typeface="Georgia" pitchFamily="34" charset="-122"/>
                <a:cs typeface="Georgia" pitchFamily="34" charset="-120"/>
              </a:rPr>
              <a:t>1 Exceedance</a:t>
            </a:r>
            <a:endParaRPr lang="en-US" sz="2400" dirty="0"/>
          </a:p>
        </p:txBody>
      </p:sp>
      <p:sp>
        <p:nvSpPr>
          <p:cNvPr id="16" name="Text 14"/>
          <p:cNvSpPr/>
          <p:nvPr/>
        </p:nvSpPr>
        <p:spPr>
          <a:xfrm>
            <a:off x="8641080" y="2633472"/>
            <a:ext cx="28346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LEAD (PB) — MARGAO</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11064240" cy="1691640"/>
        </p:xfrm>
        <a:graphic>
          <a:graphicData uri="http://schemas.openxmlformats.org/drawingml/2006/table">
            <a:tbl>
              <a:tblPr/>
              <a:tblGrid>
                <a:gridCol w="2468880"/>
                <a:gridCol w="1280160"/>
                <a:gridCol w="1371600"/>
                <a:gridCol w="1371600"/>
                <a:gridCol w="1828800"/>
                <a:gridCol w="1645920"/>
                <a:gridCol w="1097280"/>
              </a:tblGrid>
              <a:tr h="457200">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Site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District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Monitoring</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Date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Result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Health Camp</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Screened</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r>
              <a:tr h="457200">
                <a:tc>
                  <a:txBody>
                    <a:bodyPr/>
                    <a:lstStyle/>
                    <a:p>
                      <a:pPr indent="0" marL="0">
                        <a:buNone/>
                      </a:pPr>
                      <a:r>
                        <a:rPr lang="en-US" sz="1050" dirty="0">
                          <a:solidFill>
                            <a:srgbClr val="1C1917"/>
                          </a:solidFill>
                          <a:latin typeface="Arial" pitchFamily="34" charset="0"/>
                          <a:ea typeface="Arial" pitchFamily="34" charset="-122"/>
                          <a:cs typeface="Arial" pitchFamily="34" charset="-120"/>
                        </a:rPr>
                        <a:t>Mapusa Market Belt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North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Soil</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10-05-2026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b="1" dirty="0">
                          <a:solidFill>
                            <a:srgbClr val="0B4F49"/>
                          </a:solidFill>
                          <a:latin typeface="Arial" pitchFamily="34" charset="0"/>
                          <a:ea typeface="Arial" pitchFamily="34" charset="-122"/>
                          <a:cs typeface="Arial" pitchFamily="34" charset="-120"/>
                        </a:rPr>
                        <a:t>Within Limit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60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57200">
                <a:tc>
                  <a:txBody>
                    <a:bodyPr/>
                    <a:lstStyle/>
                    <a:p>
                      <a:pPr indent="0" marL="0">
                        <a:buNone/>
                      </a:pPr>
                      <a:r>
                        <a:rPr lang="en-US" sz="1050" dirty="0">
                          <a:solidFill>
                            <a:srgbClr val="1C1917"/>
                          </a:solidFill>
                          <a:latin typeface="Arial" pitchFamily="34" charset="0"/>
                          <a:ea typeface="Arial" pitchFamily="34" charset="-122"/>
                          <a:cs typeface="Arial" pitchFamily="34" charset="-120"/>
                        </a:rPr>
                        <a:t>Margao Market Belt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South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Soil + Water</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15-05-2026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b="1" dirty="0">
                          <a:solidFill>
                            <a:srgbClr val="9B2C2C"/>
                          </a:solidFill>
                          <a:latin typeface="Arial" pitchFamily="34" charset="0"/>
                          <a:ea typeface="Arial" pitchFamily="34" charset="-122"/>
                          <a:cs typeface="Arial" pitchFamily="34" charset="-120"/>
                        </a:rPr>
                        <a:t>Exceeds Limit (Pb)</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57200">
                <a:tc>
                  <a:txBody>
                    <a:bodyPr/>
                    <a:lstStyle/>
                    <a:p>
                      <a:pPr indent="0" marL="0">
                        <a:buNone/>
                      </a:pPr>
                      <a:r>
                        <a:rPr lang="en-US" sz="1050" dirty="0">
                          <a:solidFill>
                            <a:srgbClr val="1C1917"/>
                          </a:solidFill>
                          <a:latin typeface="Arial" pitchFamily="34" charset="0"/>
                          <a:ea typeface="Arial" pitchFamily="34" charset="-122"/>
                          <a:cs typeface="Arial" pitchFamily="34" charset="-120"/>
                        </a:rPr>
                        <a:t>Vasco Industrial Belt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South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Water</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20-05-2026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b="1" dirty="0">
                          <a:solidFill>
                            <a:srgbClr val="0B4F49"/>
                          </a:solidFill>
                          <a:latin typeface="Arial" pitchFamily="34" charset="0"/>
                          <a:ea typeface="Arial" pitchFamily="34" charset="-122"/>
                          <a:cs typeface="Arial" pitchFamily="34" charset="-120"/>
                        </a:rPr>
                        <a:t>Within Limit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No — scheduled next quarter</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bl>
          </a:graphicData>
        </a:graphic>
      </p:graphicFrame>
      <p:sp>
        <p:nvSpPr>
          <p:cNvPr id="18" name="Shape 15"/>
          <p:cNvSpPr/>
          <p:nvPr/>
        </p:nvSpPr>
        <p:spPr>
          <a:xfrm>
            <a:off x="548640" y="5257800"/>
            <a:ext cx="11064240" cy="868680"/>
          </a:xfrm>
          <a:prstGeom prst="rect">
            <a:avLst/>
          </a:prstGeom>
          <a:solidFill>
            <a:srgbClr val="F4F5F3"/>
          </a:solidFill>
          <a:ln/>
        </p:spPr>
      </p:sp>
      <p:sp>
        <p:nvSpPr>
          <p:cNvPr id="19" name="Text 16"/>
          <p:cNvSpPr/>
          <p:nvPr/>
        </p:nvSpPr>
        <p:spPr>
          <a:xfrm>
            <a:off x="777240" y="5349240"/>
            <a:ext cx="10607040" cy="685800"/>
          </a:xfrm>
          <a:prstGeom prst="rect">
            <a:avLst/>
          </a:prstGeom>
          <a:noFill/>
          <a:ln/>
        </p:spPr>
        <p:txBody>
          <a:bodyPr wrap="square" rtlCol="0" anchor="t"/>
          <a:lstStyle/>
          <a:p>
            <a:pPr indent="0" marL="0">
              <a:lnSpc>
                <a:spcPct val="115000"/>
              </a:lnSpc>
              <a:buNone/>
            </a:pPr>
            <a:r>
              <a:rPr lang="en-US" sz="1050" b="1" dirty="0">
                <a:solidFill>
                  <a:srgbClr val="B5451B"/>
                </a:solidFill>
                <a:latin typeface="Arial" pitchFamily="34" charset="0"/>
                <a:ea typeface="Arial" pitchFamily="34" charset="-122"/>
                <a:cs typeface="Arial" pitchFamily="34" charset="-120"/>
              </a:rPr>
              <a:t>Read: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The Margao cluster is the only site with a confirmed contamination exceedance (lead), and a remediation plan has been submitted to GSPCB. Vasco has had no health camp yet despite being the least-formalized hotspot — a monitoring and outreach gap worth prioritizing.</a:t>
            </a:r>
            <a:endParaRPr lang="en-US" sz="1050" dirty="0"/>
          </a:p>
        </p:txBody>
      </p:sp>
      <p:sp>
        <p:nvSpPr>
          <p:cNvPr id="20" name="Text 17"/>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1" name="Text 18"/>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A8710C"/>
                </a:solidFill>
                <a:latin typeface="Arial" pitchFamily="34" charset="0"/>
                <a:ea typeface="Arial" pitchFamily="34" charset="-122"/>
                <a:cs typeface="Arial" pitchFamily="34" charset="-120"/>
              </a:rPr>
              <a:t>AWARENESS &amp; OUTREACH</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Reaching the Public</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Campaigns, buy-back drives and community outreach conducted this year</a:t>
            </a:r>
            <a:endParaRPr lang="en-US" sz="1350" dirty="0"/>
          </a:p>
        </p:txBody>
      </p:sp>
      <p:sp>
        <p:nvSpPr>
          <p:cNvPr id="5" name="Shape 3"/>
          <p:cNvSpPr/>
          <p:nvPr/>
        </p:nvSpPr>
        <p:spPr>
          <a:xfrm>
            <a:off x="548640" y="1783080"/>
            <a:ext cx="2514600" cy="1234440"/>
          </a:xfrm>
          <a:prstGeom prst="rect">
            <a:avLst/>
          </a:prstGeom>
          <a:solidFill>
            <a:srgbClr val="F4F5F3"/>
          </a:solidFill>
          <a:ln/>
        </p:spPr>
      </p:sp>
      <p:sp>
        <p:nvSpPr>
          <p:cNvPr id="6" name="Text 4"/>
          <p:cNvSpPr/>
          <p:nvPr/>
        </p:nvSpPr>
        <p:spPr>
          <a:xfrm>
            <a:off x="685800" y="1892808"/>
            <a:ext cx="2240280" cy="678942"/>
          </a:xfrm>
          <a:prstGeom prst="rect">
            <a:avLst/>
          </a:prstGeom>
          <a:noFill/>
          <a:ln/>
        </p:spPr>
        <p:txBody>
          <a:bodyPr wrap="square" rtlCol="0" anchor="b"/>
          <a:lstStyle/>
          <a:p>
            <a:pPr algn="l" indent="0" marL="0">
              <a:buNone/>
            </a:pPr>
            <a:r>
              <a:rPr lang="en-US" sz="2700" b="1" dirty="0">
                <a:solidFill>
                  <a:srgbClr val="A8710C"/>
                </a:solidFill>
                <a:latin typeface="Georgia" pitchFamily="34" charset="0"/>
                <a:ea typeface="Georgia" pitchFamily="34" charset="-122"/>
                <a:cs typeface="Georgia" pitchFamily="34" charset="-120"/>
              </a:rPr>
              <a:t>5</a:t>
            </a:r>
            <a:endParaRPr lang="en-US" sz="2700" dirty="0"/>
          </a:p>
        </p:txBody>
      </p:sp>
      <p:sp>
        <p:nvSpPr>
          <p:cNvPr id="7" name="Text 5"/>
          <p:cNvSpPr/>
          <p:nvPr/>
        </p:nvSpPr>
        <p:spPr>
          <a:xfrm>
            <a:off x="685800" y="26334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PROGRAMS CONDUCTED</a:t>
            </a:r>
            <a:endParaRPr lang="en-US" sz="950" dirty="0"/>
          </a:p>
        </p:txBody>
      </p:sp>
      <p:sp>
        <p:nvSpPr>
          <p:cNvPr id="8" name="Shape 6"/>
          <p:cNvSpPr/>
          <p:nvPr/>
        </p:nvSpPr>
        <p:spPr>
          <a:xfrm>
            <a:off x="3200400" y="1783080"/>
            <a:ext cx="2514600" cy="1234440"/>
          </a:xfrm>
          <a:prstGeom prst="rect">
            <a:avLst/>
          </a:prstGeom>
          <a:solidFill>
            <a:srgbClr val="F4F5F3"/>
          </a:solidFill>
          <a:ln/>
        </p:spPr>
      </p:sp>
      <p:sp>
        <p:nvSpPr>
          <p:cNvPr id="9" name="Text 7"/>
          <p:cNvSpPr/>
          <p:nvPr/>
        </p:nvSpPr>
        <p:spPr>
          <a:xfrm>
            <a:off x="3337560" y="1892808"/>
            <a:ext cx="2240280" cy="678942"/>
          </a:xfrm>
          <a:prstGeom prst="rect">
            <a:avLst/>
          </a:prstGeom>
          <a:noFill/>
          <a:ln/>
        </p:spPr>
        <p:txBody>
          <a:bodyPr wrap="square" rtlCol="0" anchor="b"/>
          <a:lstStyle/>
          <a:p>
            <a:pPr algn="l" indent="0" marL="0">
              <a:buNone/>
            </a:pPr>
            <a:r>
              <a:rPr lang="en-US" sz="2700" b="1" dirty="0">
                <a:solidFill>
                  <a:srgbClr val="A8710C"/>
                </a:solidFill>
                <a:latin typeface="Georgia" pitchFamily="34" charset="0"/>
                <a:ea typeface="Georgia" pitchFamily="34" charset="-122"/>
                <a:cs typeface="Georgia" pitchFamily="34" charset="-120"/>
              </a:rPr>
              <a:t>3,270</a:t>
            </a:r>
            <a:endParaRPr lang="en-US" sz="2700" dirty="0"/>
          </a:p>
        </p:txBody>
      </p:sp>
      <p:sp>
        <p:nvSpPr>
          <p:cNvPr id="10" name="Text 8"/>
          <p:cNvSpPr/>
          <p:nvPr/>
        </p:nvSpPr>
        <p:spPr>
          <a:xfrm>
            <a:off x="3337560" y="26334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TOTAL PARTICIPANTS REACHED</a:t>
            </a:r>
            <a:endParaRPr lang="en-US" sz="950" dirty="0"/>
          </a:p>
        </p:txBody>
      </p:sp>
      <p:sp>
        <p:nvSpPr>
          <p:cNvPr id="11" name="Shape 9"/>
          <p:cNvSpPr/>
          <p:nvPr/>
        </p:nvSpPr>
        <p:spPr>
          <a:xfrm>
            <a:off x="5852160" y="1783080"/>
            <a:ext cx="2514600" cy="1234440"/>
          </a:xfrm>
          <a:prstGeom prst="rect">
            <a:avLst/>
          </a:prstGeom>
          <a:solidFill>
            <a:srgbClr val="F4F5F3"/>
          </a:solidFill>
          <a:ln/>
        </p:spPr>
      </p:sp>
      <p:sp>
        <p:nvSpPr>
          <p:cNvPr id="12" name="Text 10"/>
          <p:cNvSpPr/>
          <p:nvPr/>
        </p:nvSpPr>
        <p:spPr>
          <a:xfrm>
            <a:off x="5989320" y="1892808"/>
            <a:ext cx="2240280" cy="678942"/>
          </a:xfrm>
          <a:prstGeom prst="rect">
            <a:avLst/>
          </a:prstGeom>
          <a:noFill/>
          <a:ln/>
        </p:spPr>
        <p:txBody>
          <a:bodyPr wrap="square" rtlCol="0" anchor="b"/>
          <a:lstStyle/>
          <a:p>
            <a:pPr algn="l" indent="0" marL="0">
              <a:buNone/>
            </a:pPr>
            <a:r>
              <a:rPr lang="en-US" sz="2700" b="1" dirty="0">
                <a:solidFill>
                  <a:srgbClr val="0B4F49"/>
                </a:solidFill>
                <a:latin typeface="Georgia" pitchFamily="34" charset="0"/>
                <a:ea typeface="Georgia" pitchFamily="34" charset="-122"/>
                <a:cs typeface="Georgia" pitchFamily="34" charset="-120"/>
              </a:rPr>
              <a:t>3</a:t>
            </a:r>
            <a:endParaRPr lang="en-US" sz="2700" dirty="0"/>
          </a:p>
        </p:txBody>
      </p:sp>
      <p:sp>
        <p:nvSpPr>
          <p:cNvPr id="13" name="Text 11"/>
          <p:cNvSpPr/>
          <p:nvPr/>
        </p:nvSpPr>
        <p:spPr>
          <a:xfrm>
            <a:off x="5989320" y="2633472"/>
            <a:ext cx="224028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SCHOOL / RWA DRIVES</a:t>
            </a:r>
            <a:endParaRPr lang="en-US" sz="950" dirty="0"/>
          </a:p>
        </p:txBody>
      </p:sp>
      <p:sp>
        <p:nvSpPr>
          <p:cNvPr id="14" name="Shape 12"/>
          <p:cNvSpPr/>
          <p:nvPr/>
        </p:nvSpPr>
        <p:spPr>
          <a:xfrm>
            <a:off x="8503920" y="1783080"/>
            <a:ext cx="3108960" cy="1234440"/>
          </a:xfrm>
          <a:prstGeom prst="rect">
            <a:avLst/>
          </a:prstGeom>
          <a:solidFill>
            <a:srgbClr val="F4F5F3"/>
          </a:solidFill>
          <a:ln/>
        </p:spPr>
      </p:sp>
      <p:sp>
        <p:nvSpPr>
          <p:cNvPr id="15" name="Text 13"/>
          <p:cNvSpPr/>
          <p:nvPr/>
        </p:nvSpPr>
        <p:spPr>
          <a:xfrm>
            <a:off x="8641080" y="1892808"/>
            <a:ext cx="2834640" cy="678942"/>
          </a:xfrm>
          <a:prstGeom prst="rect">
            <a:avLst/>
          </a:prstGeom>
          <a:noFill/>
          <a:ln/>
        </p:spPr>
        <p:txBody>
          <a:bodyPr wrap="square" rtlCol="0" anchor="b"/>
          <a:lstStyle/>
          <a:p>
            <a:pPr algn="l" indent="0" marL="0">
              <a:buNone/>
            </a:pPr>
            <a:r>
              <a:rPr lang="en-US" sz="2400" b="1" dirty="0">
                <a:solidFill>
                  <a:srgbClr val="22405C"/>
                </a:solidFill>
                <a:latin typeface="Georgia" pitchFamily="34" charset="0"/>
                <a:ea typeface="Georgia" pitchFamily="34" charset="-122"/>
                <a:cs typeface="Georgia" pitchFamily="34" charset="-120"/>
              </a:rPr>
              <a:t>1,800</a:t>
            </a:r>
            <a:endParaRPr lang="en-US" sz="2400" dirty="0"/>
          </a:p>
        </p:txBody>
      </p:sp>
      <p:sp>
        <p:nvSpPr>
          <p:cNvPr id="16" name="Text 14"/>
          <p:cNvSpPr/>
          <p:nvPr/>
        </p:nvSpPr>
        <p:spPr>
          <a:xfrm>
            <a:off x="8641080" y="2633472"/>
            <a:ext cx="2834640" cy="329184"/>
          </a:xfrm>
          <a:prstGeom prst="rect">
            <a:avLst/>
          </a:prstGeom>
          <a:noFill/>
          <a:ln/>
        </p:spPr>
        <p:txBody>
          <a:bodyPr wrap="square" rtlCol="0" anchor="ctr"/>
          <a:lstStyle/>
          <a:p>
            <a:pPr algn="l" indent="0" marL="0">
              <a:buNone/>
            </a:pPr>
            <a:r>
              <a:rPr lang="en-US" sz="950" spc="50" kern="0" dirty="0">
                <a:solidFill>
                  <a:srgbClr val="57534E"/>
                </a:solidFill>
                <a:latin typeface="Arial" pitchFamily="34" charset="0"/>
                <a:ea typeface="Arial" pitchFamily="34" charset="-122"/>
                <a:cs typeface="Arial" pitchFamily="34" charset="-120"/>
              </a:rPr>
              <a:t>LARGEST SINGLE DRIVE (STATEWIDE)</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11064240" cy="2651760"/>
        </p:xfrm>
        <a:graphic>
          <a:graphicData uri="http://schemas.openxmlformats.org/drawingml/2006/table">
            <a:tbl>
              <a:tblPr/>
              <a:tblGrid>
                <a:gridCol w="4297680"/>
                <a:gridCol w="1554480"/>
                <a:gridCol w="1371600"/>
                <a:gridCol w="2286000"/>
                <a:gridCol w="1554480"/>
              </a:tblGrid>
              <a:tr h="438912">
                <a:tc>
                  <a:txBody>
                    <a:bodyPr/>
                    <a:lstStyle/>
                    <a:p>
                      <a:pPr indent="0" marL="0">
                        <a:buNone/>
                      </a:pPr>
                      <a:r>
                        <a:rPr lang="en-US" sz="1050" b="1" dirty="0">
                          <a:solidFill>
                            <a:srgbClr val="FFFFFF"/>
                          </a:solidFill>
                          <a:latin typeface="Arial" pitchFamily="34" charset="0"/>
                          <a:ea typeface="Arial" pitchFamily="34" charset="-122"/>
                          <a:cs typeface="Arial" pitchFamily="34" charset="-120"/>
                        </a:rPr>
                        <a:t>Program</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District</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Date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Type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Reached</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solidFill>
                      <a:srgbClr val="22405C"/>
                    </a:solidFill>
                  </a:tcPr>
                </a:tc>
              </a:tr>
              <a:tr h="438912">
                <a:tc>
                  <a:txBody>
                    <a:bodyPr/>
                    <a:lstStyle/>
                    <a:p>
                      <a:pPr indent="0" marL="0">
                        <a:buNone/>
                      </a:pPr>
                      <a:r>
                        <a:rPr lang="en-US" sz="1050" dirty="0">
                          <a:solidFill>
                            <a:srgbClr val="1C1917"/>
                          </a:solidFill>
                          <a:latin typeface="Arial" pitchFamily="34" charset="0"/>
                          <a:ea typeface="Arial" pitchFamily="34" charset="-122"/>
                          <a:cs typeface="Arial" pitchFamily="34" charset="-120"/>
                        </a:rPr>
                        <a:t>Statewide E-Waste Collection Drive (GSPCB-GWMC)</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Statewide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15-07-2025</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Buyback / Collection</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1,800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38912">
                <a:tc>
                  <a:txBody>
                    <a:bodyPr/>
                    <a:lstStyle/>
                    <a:p>
                      <a:pPr indent="0" marL="0">
                        <a:buNone/>
                      </a:pPr>
                      <a:r>
                        <a:rPr lang="en-US" sz="1050" dirty="0">
                          <a:solidFill>
                            <a:srgbClr val="1C1917"/>
                          </a:solidFill>
                          <a:latin typeface="Arial" pitchFamily="34" charset="0"/>
                          <a:ea typeface="Arial" pitchFamily="34" charset="-122"/>
                          <a:cs typeface="Arial" pitchFamily="34" charset="-120"/>
                        </a:rPr>
                        <a:t>E-Waste Awareness Drive - Schools</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North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18-04-2026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School Collection Drive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450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38912">
                <a:tc>
                  <a:txBody>
                    <a:bodyPr/>
                    <a:lstStyle/>
                    <a:p>
                      <a:pPr indent="0" marL="0">
                        <a:buNone/>
                      </a:pPr>
                      <a:r>
                        <a:rPr lang="en-US" sz="1050" dirty="0">
                          <a:solidFill>
                            <a:srgbClr val="1C1917"/>
                          </a:solidFill>
                          <a:latin typeface="Arial" pitchFamily="34" charset="0"/>
                          <a:ea typeface="Arial" pitchFamily="34" charset="-122"/>
                          <a:cs typeface="Arial" pitchFamily="34" charset="-120"/>
                        </a:rPr>
                        <a:t>Margao Municipal Council Collection Drive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South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22-04-2026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RWA / Community Drive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300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38912">
                <a:tc>
                  <a:txBody>
                    <a:bodyPr/>
                    <a:lstStyle/>
                    <a:p>
                      <a:pPr indent="0" marL="0">
                        <a:buNone/>
                      </a:pPr>
                      <a:r>
                        <a:rPr lang="en-US" sz="1050" dirty="0">
                          <a:solidFill>
                            <a:srgbClr val="1C1917"/>
                          </a:solidFill>
                          <a:latin typeface="Arial" pitchFamily="34" charset="0"/>
                          <a:ea typeface="Arial" pitchFamily="34" charset="-122"/>
                          <a:cs typeface="Arial" pitchFamily="34" charset="-120"/>
                        </a:rPr>
                        <a:t>Goa University Campus E-Waste Collection</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North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05-05-2026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School Collection Drive</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220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r h="438912">
                <a:tc>
                  <a:txBody>
                    <a:bodyPr/>
                    <a:lstStyle/>
                    <a:p>
                      <a:pPr indent="0" marL="0">
                        <a:buNone/>
                      </a:pPr>
                      <a:r>
                        <a:rPr lang="en-US" sz="1050" dirty="0">
                          <a:solidFill>
                            <a:srgbClr val="1C1917"/>
                          </a:solidFill>
                          <a:latin typeface="Arial" pitchFamily="34" charset="0"/>
                          <a:ea typeface="Arial" pitchFamily="34" charset="-122"/>
                          <a:cs typeface="Arial" pitchFamily="34" charset="-120"/>
                        </a:rPr>
                        <a:t>Panaji Municipal Awareness Session</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North Goa</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20-05-2026</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Public Awareness Campaign</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c>
                  <a:txBody>
                    <a:bodyPr/>
                    <a:lstStyle/>
                    <a:p>
                      <a:pPr indent="0" marL="0">
                        <a:buNone/>
                      </a:pPr>
                      <a:r>
                        <a:rPr lang="en-US" sz="1050" dirty="0">
                          <a:solidFill>
                            <a:srgbClr val="1C1917"/>
                          </a:solidFill>
                          <a:latin typeface="Arial" pitchFamily="34" charset="0"/>
                          <a:ea typeface="Arial" pitchFamily="34" charset="-122"/>
                          <a:cs typeface="Arial" pitchFamily="34" charset="-120"/>
                        </a:rPr>
                        <a:t>500</a:t>
                      </a:r>
                      <a:endParaRPr lang="en-US" sz="1050" dirty="0">
                        <a:latin typeface="Arial" charset="0"/>
                        <a:ea typeface="Arial" charset="0"/>
                        <a:cs typeface="Arial" charset="0"/>
                      </a:endParaRPr>
                    </a:p>
                  </a:txBody>
                  <a:tcPr marL="91440" marR="91440" marT="45720" marB="45720" anchor="ctr">
                    <a:lnL w="9525" cap="flat" cmpd="sng" algn="ctr">
                      <a:solidFill>
                        <a:srgbClr val="DEDDD8"/>
                      </a:solidFill>
                      <a:prstDash val="solid"/>
                      <a:round/>
                      <a:headEnd type="none" w="med" len="med"/>
                      <a:tailEnd type="none" w="med" len="med"/>
                    </a:lnL>
                    <a:lnR w="9525" cap="flat" cmpd="sng" algn="ctr">
                      <a:solidFill>
                        <a:srgbClr val="DEDDD8"/>
                      </a:solidFill>
                      <a:prstDash val="solid"/>
                      <a:round/>
                      <a:headEnd type="none" w="med" len="med"/>
                      <a:tailEnd type="none" w="med" len="med"/>
                    </a:lnR>
                    <a:lnT w="9525" cap="flat" cmpd="sng" algn="ctr">
                      <a:solidFill>
                        <a:srgbClr val="DEDDD8"/>
                      </a:solidFill>
                      <a:prstDash val="solid"/>
                      <a:round/>
                      <a:headEnd type="none" w="med" len="med"/>
                      <a:tailEnd type="none" w="med" len="med"/>
                    </a:lnT>
                    <a:lnB w="9525" cap="flat" cmpd="sng" algn="ctr">
                      <a:solidFill>
                        <a:srgbClr val="DEDDD8"/>
                      </a:solidFill>
                      <a:prstDash val="solid"/>
                      <a:round/>
                      <a:headEnd type="none" w="med" len="med"/>
                      <a:tailEnd type="none" w="med" len="med"/>
                    </a:lnB>
                  </a:tcPr>
                </a:tc>
              </a:tr>
            </a:tbl>
          </a:graphicData>
        </a:graphic>
      </p:graphicFrame>
      <p:sp>
        <p:nvSpPr>
          <p:cNvPr id="18" name="Text 15"/>
          <p:cNvSpPr/>
          <p:nvPr/>
        </p:nvSpPr>
        <p:spPr>
          <a:xfrm>
            <a:off x="548640" y="6108192"/>
            <a:ext cx="11064240" cy="457200"/>
          </a:xfrm>
          <a:prstGeom prst="rect">
            <a:avLst/>
          </a:prstGeom>
          <a:noFill/>
          <a:ln/>
        </p:spPr>
        <p:txBody>
          <a:bodyPr wrap="square" rtlCol="0" anchor="t"/>
          <a:lstStyle/>
          <a:p>
            <a:pPr indent="0" marL="0">
              <a:lnSpc>
                <a:spcPct val="115000"/>
              </a:lnSpc>
              <a:buNone/>
            </a:pPr>
            <a:r>
              <a:rPr lang="en-US" sz="1050" b="1" dirty="0">
                <a:solidFill>
                  <a:srgbClr val="B5451B"/>
                </a:solidFill>
                <a:latin typeface="Arial" pitchFamily="34" charset="0"/>
                <a:ea typeface="Arial" pitchFamily="34" charset="-122"/>
                <a:cs typeface="Arial" pitchFamily="34" charset="-120"/>
              </a:rPr>
              <a:t>Read:  </a:t>
            </a:r>
            <a:pPr indent="0" marL="0">
              <a:lnSpc>
                <a:spcPct val="115000"/>
              </a:lnSpc>
              <a:buNone/>
            </a:pPr>
            <a:r>
              <a:rPr lang="en-US" sz="1050" dirty="0">
                <a:solidFill>
                  <a:srgbClr val="57534E"/>
                </a:solidFill>
                <a:latin typeface="Arial" pitchFamily="34" charset="0"/>
                <a:ea typeface="Arial" pitchFamily="34" charset="-122"/>
                <a:cs typeface="Arial" pitchFamily="34" charset="-120"/>
              </a:rPr>
              <a:t>North Goa hosts 4 of 5 programs and the majority of reach outside the single statewide drive — South Goa's outreach (one RWA drive, 300 people) is comparatively thin relative to its e-waste generation share.</a:t>
            </a:r>
            <a:endParaRPr lang="en-US" sz="1050" dirty="0"/>
          </a:p>
        </p:txBody>
      </p:sp>
      <p:sp>
        <p:nvSpPr>
          <p:cNvPr id="19" name="Text 16"/>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0" name="Text 17"/>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22405C"/>
                </a:solidFill>
                <a:latin typeface="Arial" pitchFamily="34" charset="0"/>
                <a:ea typeface="Arial" pitchFamily="34" charset="-122"/>
                <a:cs typeface="Arial" pitchFamily="34" charset="-120"/>
              </a:rPr>
              <a:t>SYNTHESIS</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Strengths &amp; Gaps</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Where Goa's e-waste system is working, and where it isn't</a:t>
            </a:r>
            <a:endParaRPr lang="en-US" sz="1350" dirty="0"/>
          </a:p>
        </p:txBody>
      </p:sp>
      <p:sp>
        <p:nvSpPr>
          <p:cNvPr id="5" name="Shape 3"/>
          <p:cNvSpPr/>
          <p:nvPr/>
        </p:nvSpPr>
        <p:spPr>
          <a:xfrm>
            <a:off x="548640" y="1783080"/>
            <a:ext cx="5440680" cy="4251960"/>
          </a:xfrm>
          <a:prstGeom prst="rect">
            <a:avLst/>
          </a:prstGeom>
          <a:solidFill>
            <a:srgbClr val="EAF3F1"/>
          </a:solidFill>
          <a:ln/>
        </p:spPr>
      </p:sp>
      <p:sp>
        <p:nvSpPr>
          <p:cNvPr id="6" name="Text 4"/>
          <p:cNvSpPr/>
          <p:nvPr/>
        </p:nvSpPr>
        <p:spPr>
          <a:xfrm>
            <a:off x="822960" y="1965960"/>
            <a:ext cx="4937760" cy="320040"/>
          </a:xfrm>
          <a:prstGeom prst="rect">
            <a:avLst/>
          </a:prstGeom>
          <a:noFill/>
          <a:ln/>
        </p:spPr>
        <p:txBody>
          <a:bodyPr wrap="square" rtlCol="0" anchor="ctr"/>
          <a:lstStyle/>
          <a:p>
            <a:pPr indent="0" marL="0">
              <a:buNone/>
            </a:pPr>
            <a:r>
              <a:rPr lang="en-US" sz="1300" b="1" spc="100" kern="0" dirty="0">
                <a:solidFill>
                  <a:srgbClr val="0B4F49"/>
                </a:solidFill>
                <a:latin typeface="Arial" pitchFamily="34" charset="0"/>
                <a:ea typeface="Arial" pitchFamily="34" charset="-122"/>
                <a:cs typeface="Arial" pitchFamily="34" charset="-120"/>
              </a:rPr>
              <a:t>WHAT'S WORKING</a:t>
            </a:r>
            <a:endParaRPr lang="en-US" sz="1300" dirty="0"/>
          </a:p>
        </p:txBody>
      </p:sp>
      <p:sp>
        <p:nvSpPr>
          <p:cNvPr id="7" name="Text 5"/>
          <p:cNvSpPr/>
          <p:nvPr/>
        </p:nvSpPr>
        <p:spPr>
          <a:xfrm>
            <a:off x="822960" y="2377440"/>
            <a:ext cx="4937760" cy="3520440"/>
          </a:xfrm>
          <a:prstGeom prst="rect">
            <a:avLst/>
          </a:prstGeom>
          <a:noFill/>
          <a:ln/>
        </p:spPr>
        <p:txBody>
          <a:bodyPr wrap="square" rtlCol="0" anchor="t"/>
          <a:lstStyle/>
          <a:p>
            <a:pPr indent="0" marL="0">
              <a:lnSpc>
                <a:spcPct val="120000"/>
              </a:lnSpc>
              <a:buNone/>
            </a:pPr>
            <a:r>
              <a:rPr lang="en-US" sz="1200" b="1" dirty="0">
                <a:solidFill>
                  <a:srgbClr val="0B4F49"/>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78.5% EPR collection-target achievement in both districts — consistent, not lopsided
</a:t>
            </a:r>
            <a:pPr indent="0" marL="0">
              <a:lnSpc>
                <a:spcPct val="120000"/>
              </a:lnSpc>
              <a:buNone/>
            </a:pPr>
            <a:r>
              <a:rPr lang="en-US" sz="1200" b="1" dirty="0">
                <a:solidFill>
                  <a:srgbClr val="0B4F49"/>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Formal recyclers processed more material than was newly generated (2,158 t vs. 1,677 t) — legacy backlog is being drawn down
</a:t>
            </a:r>
            <a:pPr indent="0" marL="0">
              <a:lnSpc>
                <a:spcPct val="120000"/>
              </a:lnSpc>
              <a:buNone/>
            </a:pPr>
            <a:r>
              <a:rPr lang="en-US" sz="1200" b="1" dirty="0">
                <a:solidFill>
                  <a:srgbClr val="0B4F49"/>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75% of registered EPR entities are fully compliant, with 87.5% inspection coverage
</a:t>
            </a:r>
            <a:pPr indent="0" marL="0">
              <a:lnSpc>
                <a:spcPct val="120000"/>
              </a:lnSpc>
              <a:buNone/>
            </a:pPr>
            <a:r>
              <a:rPr lang="en-US" sz="1200" b="1" dirty="0">
                <a:solidFill>
                  <a:srgbClr val="0B4F49"/>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All 3 known informal hotspots are at least partially engaged — none are being ignored</a:t>
            </a:r>
            <a:endParaRPr lang="en-US" sz="1200" dirty="0"/>
          </a:p>
        </p:txBody>
      </p:sp>
      <p:sp>
        <p:nvSpPr>
          <p:cNvPr id="8" name="Shape 6"/>
          <p:cNvSpPr/>
          <p:nvPr/>
        </p:nvSpPr>
        <p:spPr>
          <a:xfrm>
            <a:off x="6172200" y="1783080"/>
            <a:ext cx="5440680" cy="4251960"/>
          </a:xfrm>
          <a:prstGeom prst="rect">
            <a:avLst/>
          </a:prstGeom>
          <a:solidFill>
            <a:srgbClr val="FBEEE8"/>
          </a:solidFill>
          <a:ln/>
        </p:spPr>
      </p:sp>
      <p:sp>
        <p:nvSpPr>
          <p:cNvPr id="9" name="Text 7"/>
          <p:cNvSpPr/>
          <p:nvPr/>
        </p:nvSpPr>
        <p:spPr>
          <a:xfrm>
            <a:off x="6446520" y="1965960"/>
            <a:ext cx="4937760" cy="320040"/>
          </a:xfrm>
          <a:prstGeom prst="rect">
            <a:avLst/>
          </a:prstGeom>
          <a:noFill/>
          <a:ln/>
        </p:spPr>
        <p:txBody>
          <a:bodyPr wrap="square" rtlCol="0" anchor="ctr"/>
          <a:lstStyle/>
          <a:p>
            <a:pPr indent="0" marL="0">
              <a:buNone/>
            </a:pPr>
            <a:r>
              <a:rPr lang="en-US" sz="1300" b="1" spc="100" kern="0" dirty="0">
                <a:solidFill>
                  <a:srgbClr val="B5451B"/>
                </a:solidFill>
                <a:latin typeface="Arial" pitchFamily="34" charset="0"/>
                <a:ea typeface="Arial" pitchFamily="34" charset="-122"/>
                <a:cs typeface="Arial" pitchFamily="34" charset="-120"/>
              </a:rPr>
              <a:t>WHERE THE GAPS ARE</a:t>
            </a:r>
            <a:endParaRPr lang="en-US" sz="1300" dirty="0"/>
          </a:p>
        </p:txBody>
      </p:sp>
      <p:sp>
        <p:nvSpPr>
          <p:cNvPr id="10" name="Text 8"/>
          <p:cNvSpPr/>
          <p:nvPr/>
        </p:nvSpPr>
        <p:spPr>
          <a:xfrm>
            <a:off x="6446520" y="2377440"/>
            <a:ext cx="4937760" cy="3520440"/>
          </a:xfrm>
          <a:prstGeom prst="rect">
            <a:avLst/>
          </a:prstGeom>
          <a:noFill/>
          <a:ln/>
        </p:spPr>
        <p:txBody>
          <a:bodyPr wrap="square" rtlCol="0" anchor="t"/>
          <a:lstStyle/>
          <a:p>
            <a:pPr indent="0" marL="0">
              <a:lnSpc>
                <a:spcPct val="120000"/>
              </a:lnSpc>
              <a:buNone/>
            </a:pPr>
            <a:r>
              <a:rPr lang="en-US" sz="1200" b="1" dirty="0">
                <a:solidFill>
                  <a:srgbClr val="B5451B"/>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Only 33% of estimated informal-sector workers (20 of 60) are registered or trained
</a:t>
            </a:r>
            <a:pPr indent="0" marL="0">
              <a:lnSpc>
                <a:spcPct val="120000"/>
              </a:lnSpc>
              <a:buNone/>
            </a:pPr>
            <a:r>
              <a:rPr lang="en-US" sz="1200" b="1" dirty="0">
                <a:solidFill>
                  <a:srgbClr val="B5451B"/>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Zero hotspots are fully formalized — Vasco remains at survey stage only
</a:t>
            </a:r>
            <a:pPr indent="0" marL="0">
              <a:lnSpc>
                <a:spcPct val="120000"/>
              </a:lnSpc>
              <a:buNone/>
            </a:pPr>
            <a:r>
              <a:rPr lang="en-US" sz="1200" b="1" dirty="0">
                <a:solidFill>
                  <a:srgbClr val="B5451B"/>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Two EPR show-cause penalties remain unresolved; one 'compliant' entity has never been inspected
</a:t>
            </a:r>
            <a:pPr indent="0" marL="0">
              <a:lnSpc>
                <a:spcPct val="120000"/>
              </a:lnSpc>
              <a:buNone/>
            </a:pPr>
            <a:r>
              <a:rPr lang="en-US" sz="1200" b="1" dirty="0">
                <a:solidFill>
                  <a:srgbClr val="B5451B"/>
                </a:solidFill>
                <a:latin typeface="Arial" pitchFamily="34" charset="0"/>
                <a:ea typeface="Arial" pitchFamily="34" charset="-122"/>
                <a:cs typeface="Arial" pitchFamily="34" charset="-120"/>
              </a:rPr>
              <a:t>•  </a:t>
            </a:r>
            <a:pPr indent="0" marL="0">
              <a:lnSpc>
                <a:spcPct val="120000"/>
              </a:lnSpc>
              <a:buNone/>
            </a:pPr>
            <a:r>
              <a:rPr lang="en-US" sz="1200" dirty="0">
                <a:solidFill>
                  <a:srgbClr val="1C1917"/>
                </a:solidFill>
                <a:latin typeface="Arial" pitchFamily="34" charset="0"/>
                <a:ea typeface="Arial" pitchFamily="34" charset="-122"/>
                <a:cs typeface="Arial" pitchFamily="34" charset="-120"/>
              </a:rPr>
              <a:t>Confirmed lead (Pb) exceedance at Margao; Vasco has had no health camp at all</a:t>
            </a:r>
            <a:endParaRPr lang="en-US" sz="1200" dirty="0"/>
          </a:p>
        </p:txBody>
      </p:sp>
      <p:sp>
        <p:nvSpPr>
          <p:cNvPr id="11" name="Text 9"/>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12" name="Text 10"/>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0B4F49"/>
                </a:solidFill>
                <a:latin typeface="Arial" pitchFamily="34" charset="0"/>
                <a:ea typeface="Arial" pitchFamily="34" charset="-122"/>
                <a:cs typeface="Arial" pitchFamily="34" charset="-120"/>
              </a:rPr>
              <a:t>THE PATH FORWARD</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Five Priorities for Next Quarter</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Targeted actions to close the gaps identified in this tracker</a:t>
            </a:r>
            <a:endParaRPr lang="en-US" sz="1350" dirty="0"/>
          </a:p>
        </p:txBody>
      </p:sp>
      <p:sp>
        <p:nvSpPr>
          <p:cNvPr id="5" name="Shape 3"/>
          <p:cNvSpPr/>
          <p:nvPr/>
        </p:nvSpPr>
        <p:spPr>
          <a:xfrm>
            <a:off x="548640" y="1920240"/>
            <a:ext cx="2103120" cy="4206240"/>
          </a:xfrm>
          <a:prstGeom prst="rect">
            <a:avLst/>
          </a:prstGeom>
          <a:solidFill>
            <a:srgbClr val="F4F5F3"/>
          </a:solidFill>
          <a:ln/>
        </p:spPr>
      </p:sp>
      <p:sp>
        <p:nvSpPr>
          <p:cNvPr id="6" name="Text 4"/>
          <p:cNvSpPr/>
          <p:nvPr/>
        </p:nvSpPr>
        <p:spPr>
          <a:xfrm>
            <a:off x="713232" y="2103120"/>
            <a:ext cx="1773936" cy="548640"/>
          </a:xfrm>
          <a:prstGeom prst="rect">
            <a:avLst/>
          </a:prstGeom>
          <a:noFill/>
          <a:ln/>
        </p:spPr>
        <p:txBody>
          <a:bodyPr wrap="square" rtlCol="0" anchor="ctr"/>
          <a:lstStyle/>
          <a:p>
            <a:pPr indent="0" marL="0">
              <a:buNone/>
            </a:pPr>
            <a:r>
              <a:rPr lang="en-US" sz="2600" b="1" dirty="0">
                <a:solidFill>
                  <a:srgbClr val="C9C4BB"/>
                </a:solidFill>
                <a:latin typeface="Georgia" pitchFamily="34" charset="0"/>
                <a:ea typeface="Georgia" pitchFamily="34" charset="-122"/>
                <a:cs typeface="Georgia" pitchFamily="34" charset="-120"/>
              </a:rPr>
              <a:t>01</a:t>
            </a:r>
            <a:endParaRPr lang="en-US" sz="2600" dirty="0"/>
          </a:p>
        </p:txBody>
      </p:sp>
      <p:sp>
        <p:nvSpPr>
          <p:cNvPr id="7" name="Text 5"/>
          <p:cNvSpPr/>
          <p:nvPr/>
        </p:nvSpPr>
        <p:spPr>
          <a:xfrm>
            <a:off x="713232" y="2697480"/>
            <a:ext cx="1773936" cy="914400"/>
          </a:xfrm>
          <a:prstGeom prst="rect">
            <a:avLst/>
          </a:prstGeom>
          <a:noFill/>
          <a:ln/>
        </p:spPr>
        <p:txBody>
          <a:bodyPr wrap="square" rtlCol="0" anchor="ctr"/>
          <a:lstStyle/>
          <a:p>
            <a:pPr indent="0" marL="0">
              <a:buNone/>
            </a:pPr>
            <a:r>
              <a:rPr lang="en-US" sz="1400" b="1" dirty="0">
                <a:solidFill>
                  <a:srgbClr val="1C1917"/>
                </a:solidFill>
                <a:latin typeface="Georgia" pitchFamily="34" charset="0"/>
                <a:ea typeface="Georgia" pitchFamily="34" charset="-122"/>
                <a:cs typeface="Georgia" pitchFamily="34" charset="-120"/>
              </a:rPr>
              <a:t>Remediate Margao</a:t>
            </a:r>
            <a:endParaRPr lang="en-US" sz="1400" dirty="0"/>
          </a:p>
        </p:txBody>
      </p:sp>
      <p:sp>
        <p:nvSpPr>
          <p:cNvPr id="8" name="Text 6"/>
          <p:cNvSpPr/>
          <p:nvPr/>
        </p:nvSpPr>
        <p:spPr>
          <a:xfrm>
            <a:off x="713232" y="3611880"/>
            <a:ext cx="1773936" cy="2331720"/>
          </a:xfrm>
          <a:prstGeom prst="rect">
            <a:avLst/>
          </a:prstGeom>
          <a:noFill/>
          <a:ln/>
        </p:spPr>
        <p:txBody>
          <a:bodyPr wrap="square" rtlCol="0" anchor="t"/>
          <a:lstStyle/>
          <a:p>
            <a:pPr indent="0" marL="0">
              <a:lnSpc>
                <a:spcPct val="120000"/>
              </a:lnSpc>
              <a:buNone/>
            </a:pPr>
            <a:r>
              <a:rPr lang="en-US" sz="1000" dirty="0">
                <a:solidFill>
                  <a:srgbClr val="57534E"/>
                </a:solidFill>
                <a:latin typeface="Arial" pitchFamily="34" charset="0"/>
                <a:ea typeface="Arial" pitchFamily="34" charset="-122"/>
                <a:cs typeface="Arial" pitchFamily="34" charset="-120"/>
              </a:rPr>
              <a:t>Act on the submitted Pb remediation plan and re-test soil/water within one quarter.</a:t>
            </a:r>
            <a:endParaRPr lang="en-US" sz="1000" dirty="0"/>
          </a:p>
        </p:txBody>
      </p:sp>
      <p:sp>
        <p:nvSpPr>
          <p:cNvPr id="9" name="Shape 7"/>
          <p:cNvSpPr/>
          <p:nvPr/>
        </p:nvSpPr>
        <p:spPr>
          <a:xfrm>
            <a:off x="2834640" y="1920240"/>
            <a:ext cx="2103120" cy="4206240"/>
          </a:xfrm>
          <a:prstGeom prst="rect">
            <a:avLst/>
          </a:prstGeom>
          <a:solidFill>
            <a:srgbClr val="EFF2F1"/>
          </a:solidFill>
          <a:ln/>
        </p:spPr>
      </p:sp>
      <p:sp>
        <p:nvSpPr>
          <p:cNvPr id="10" name="Text 8"/>
          <p:cNvSpPr/>
          <p:nvPr/>
        </p:nvSpPr>
        <p:spPr>
          <a:xfrm>
            <a:off x="2999232" y="2103120"/>
            <a:ext cx="1773936" cy="548640"/>
          </a:xfrm>
          <a:prstGeom prst="rect">
            <a:avLst/>
          </a:prstGeom>
          <a:noFill/>
          <a:ln/>
        </p:spPr>
        <p:txBody>
          <a:bodyPr wrap="square" rtlCol="0" anchor="ctr"/>
          <a:lstStyle/>
          <a:p>
            <a:pPr indent="0" marL="0">
              <a:buNone/>
            </a:pPr>
            <a:r>
              <a:rPr lang="en-US" sz="2600" b="1" dirty="0">
                <a:solidFill>
                  <a:srgbClr val="C9C4BB"/>
                </a:solidFill>
                <a:latin typeface="Georgia" pitchFamily="34" charset="0"/>
                <a:ea typeface="Georgia" pitchFamily="34" charset="-122"/>
                <a:cs typeface="Georgia" pitchFamily="34" charset="-120"/>
              </a:rPr>
              <a:t>02</a:t>
            </a:r>
            <a:endParaRPr lang="en-US" sz="2600" dirty="0"/>
          </a:p>
        </p:txBody>
      </p:sp>
      <p:sp>
        <p:nvSpPr>
          <p:cNvPr id="11" name="Text 9"/>
          <p:cNvSpPr/>
          <p:nvPr/>
        </p:nvSpPr>
        <p:spPr>
          <a:xfrm>
            <a:off x="2999232" y="2697480"/>
            <a:ext cx="1773936" cy="914400"/>
          </a:xfrm>
          <a:prstGeom prst="rect">
            <a:avLst/>
          </a:prstGeom>
          <a:noFill/>
          <a:ln/>
        </p:spPr>
        <p:txBody>
          <a:bodyPr wrap="square" rtlCol="0" anchor="ctr"/>
          <a:lstStyle/>
          <a:p>
            <a:pPr indent="0" marL="0">
              <a:buNone/>
            </a:pPr>
            <a:r>
              <a:rPr lang="en-US" sz="1400" b="1" dirty="0">
                <a:solidFill>
                  <a:srgbClr val="1C1917"/>
                </a:solidFill>
                <a:latin typeface="Georgia" pitchFamily="34" charset="0"/>
                <a:ea typeface="Georgia" pitchFamily="34" charset="-122"/>
                <a:cs typeface="Georgia" pitchFamily="34" charset="-120"/>
              </a:rPr>
              <a:t>Stand up Vasco's health camp</a:t>
            </a:r>
            <a:endParaRPr lang="en-US" sz="1400" dirty="0"/>
          </a:p>
        </p:txBody>
      </p:sp>
      <p:sp>
        <p:nvSpPr>
          <p:cNvPr id="12" name="Text 10"/>
          <p:cNvSpPr/>
          <p:nvPr/>
        </p:nvSpPr>
        <p:spPr>
          <a:xfrm>
            <a:off x="2999232" y="3611880"/>
            <a:ext cx="1773936" cy="2331720"/>
          </a:xfrm>
          <a:prstGeom prst="rect">
            <a:avLst/>
          </a:prstGeom>
          <a:noFill/>
          <a:ln/>
        </p:spPr>
        <p:txBody>
          <a:bodyPr wrap="square" rtlCol="0" anchor="t"/>
          <a:lstStyle/>
          <a:p>
            <a:pPr indent="0" marL="0">
              <a:lnSpc>
                <a:spcPct val="120000"/>
              </a:lnSpc>
              <a:buNone/>
            </a:pPr>
            <a:r>
              <a:rPr lang="en-US" sz="1000" dirty="0">
                <a:solidFill>
                  <a:srgbClr val="57534E"/>
                </a:solidFill>
                <a:latin typeface="Arial" pitchFamily="34" charset="0"/>
                <a:ea typeface="Arial" pitchFamily="34" charset="-122"/>
                <a:cs typeface="Arial" pitchFamily="34" charset="-120"/>
              </a:rPr>
              <a:t>The least-formalized hotspot has had zero health screening — schedule immediately, don't wait for next quarter.</a:t>
            </a:r>
            <a:endParaRPr lang="en-US" sz="1000" dirty="0"/>
          </a:p>
        </p:txBody>
      </p:sp>
      <p:sp>
        <p:nvSpPr>
          <p:cNvPr id="13" name="Shape 11"/>
          <p:cNvSpPr/>
          <p:nvPr/>
        </p:nvSpPr>
        <p:spPr>
          <a:xfrm>
            <a:off x="5120640" y="1920240"/>
            <a:ext cx="2103120" cy="4206240"/>
          </a:xfrm>
          <a:prstGeom prst="rect">
            <a:avLst/>
          </a:prstGeom>
          <a:solidFill>
            <a:srgbClr val="F4F5F3"/>
          </a:solidFill>
          <a:ln/>
        </p:spPr>
      </p:sp>
      <p:sp>
        <p:nvSpPr>
          <p:cNvPr id="14" name="Text 12"/>
          <p:cNvSpPr/>
          <p:nvPr/>
        </p:nvSpPr>
        <p:spPr>
          <a:xfrm>
            <a:off x="5285232" y="2103120"/>
            <a:ext cx="1773936" cy="548640"/>
          </a:xfrm>
          <a:prstGeom prst="rect">
            <a:avLst/>
          </a:prstGeom>
          <a:noFill/>
          <a:ln/>
        </p:spPr>
        <p:txBody>
          <a:bodyPr wrap="square" rtlCol="0" anchor="ctr"/>
          <a:lstStyle/>
          <a:p>
            <a:pPr indent="0" marL="0">
              <a:buNone/>
            </a:pPr>
            <a:r>
              <a:rPr lang="en-US" sz="2600" b="1" dirty="0">
                <a:solidFill>
                  <a:srgbClr val="C9C4BB"/>
                </a:solidFill>
                <a:latin typeface="Georgia" pitchFamily="34" charset="0"/>
                <a:ea typeface="Georgia" pitchFamily="34" charset="-122"/>
                <a:cs typeface="Georgia" pitchFamily="34" charset="-120"/>
              </a:rPr>
              <a:t>03</a:t>
            </a:r>
            <a:endParaRPr lang="en-US" sz="2600" dirty="0"/>
          </a:p>
        </p:txBody>
      </p:sp>
      <p:sp>
        <p:nvSpPr>
          <p:cNvPr id="15" name="Text 13"/>
          <p:cNvSpPr/>
          <p:nvPr/>
        </p:nvSpPr>
        <p:spPr>
          <a:xfrm>
            <a:off x="5285232" y="2697480"/>
            <a:ext cx="1773936" cy="914400"/>
          </a:xfrm>
          <a:prstGeom prst="rect">
            <a:avLst/>
          </a:prstGeom>
          <a:noFill/>
          <a:ln/>
        </p:spPr>
        <p:txBody>
          <a:bodyPr wrap="square" rtlCol="0" anchor="ctr"/>
          <a:lstStyle/>
          <a:p>
            <a:pPr indent="0" marL="0">
              <a:buNone/>
            </a:pPr>
            <a:r>
              <a:rPr lang="en-US" sz="1400" b="1" dirty="0">
                <a:solidFill>
                  <a:srgbClr val="1C1917"/>
                </a:solidFill>
                <a:latin typeface="Georgia" pitchFamily="34" charset="0"/>
                <a:ea typeface="Georgia" pitchFamily="34" charset="-122"/>
                <a:cs typeface="Georgia" pitchFamily="34" charset="-120"/>
              </a:rPr>
              <a:t>Resolve the two open penalties</a:t>
            </a:r>
            <a:endParaRPr lang="en-US" sz="1400" dirty="0"/>
          </a:p>
        </p:txBody>
      </p:sp>
      <p:sp>
        <p:nvSpPr>
          <p:cNvPr id="16" name="Text 14"/>
          <p:cNvSpPr/>
          <p:nvPr/>
        </p:nvSpPr>
        <p:spPr>
          <a:xfrm>
            <a:off x="5285232" y="3611880"/>
            <a:ext cx="1773936" cy="2331720"/>
          </a:xfrm>
          <a:prstGeom prst="rect">
            <a:avLst/>
          </a:prstGeom>
          <a:noFill/>
          <a:ln/>
        </p:spPr>
        <p:txBody>
          <a:bodyPr wrap="square" rtlCol="0" anchor="t"/>
          <a:lstStyle/>
          <a:p>
            <a:pPr indent="0" marL="0">
              <a:lnSpc>
                <a:spcPct val="120000"/>
              </a:lnSpc>
              <a:buNone/>
            </a:pPr>
            <a:r>
              <a:rPr lang="en-US" sz="1000" dirty="0">
                <a:solidFill>
                  <a:srgbClr val="57534E"/>
                </a:solidFill>
                <a:latin typeface="Arial" pitchFamily="34" charset="0"/>
                <a:ea typeface="Arial" pitchFamily="34" charset="-122"/>
                <a:cs typeface="Arial" pitchFamily="34" charset="-120"/>
              </a:rPr>
              <a:t>Show-cause cases against entities 004 and 007 should be closed out, not left pending indefinitely.</a:t>
            </a:r>
            <a:endParaRPr lang="en-US" sz="1000" dirty="0"/>
          </a:p>
        </p:txBody>
      </p:sp>
      <p:sp>
        <p:nvSpPr>
          <p:cNvPr id="17" name="Shape 15"/>
          <p:cNvSpPr/>
          <p:nvPr/>
        </p:nvSpPr>
        <p:spPr>
          <a:xfrm>
            <a:off x="7406640" y="1920240"/>
            <a:ext cx="2103120" cy="4206240"/>
          </a:xfrm>
          <a:prstGeom prst="rect">
            <a:avLst/>
          </a:prstGeom>
          <a:solidFill>
            <a:srgbClr val="EFF2F1"/>
          </a:solidFill>
          <a:ln/>
        </p:spPr>
      </p:sp>
      <p:sp>
        <p:nvSpPr>
          <p:cNvPr id="18" name="Text 16"/>
          <p:cNvSpPr/>
          <p:nvPr/>
        </p:nvSpPr>
        <p:spPr>
          <a:xfrm>
            <a:off x="7571232" y="2103120"/>
            <a:ext cx="1773936" cy="548640"/>
          </a:xfrm>
          <a:prstGeom prst="rect">
            <a:avLst/>
          </a:prstGeom>
          <a:noFill/>
          <a:ln/>
        </p:spPr>
        <p:txBody>
          <a:bodyPr wrap="square" rtlCol="0" anchor="ctr"/>
          <a:lstStyle/>
          <a:p>
            <a:pPr indent="0" marL="0">
              <a:buNone/>
            </a:pPr>
            <a:r>
              <a:rPr lang="en-US" sz="2600" b="1" dirty="0">
                <a:solidFill>
                  <a:srgbClr val="C9C4BB"/>
                </a:solidFill>
                <a:latin typeface="Georgia" pitchFamily="34" charset="0"/>
                <a:ea typeface="Georgia" pitchFamily="34" charset="-122"/>
                <a:cs typeface="Georgia" pitchFamily="34" charset="-120"/>
              </a:rPr>
              <a:t>04</a:t>
            </a:r>
            <a:endParaRPr lang="en-US" sz="2600" dirty="0"/>
          </a:p>
        </p:txBody>
      </p:sp>
      <p:sp>
        <p:nvSpPr>
          <p:cNvPr id="19" name="Text 17"/>
          <p:cNvSpPr/>
          <p:nvPr/>
        </p:nvSpPr>
        <p:spPr>
          <a:xfrm>
            <a:off x="7571232" y="2697480"/>
            <a:ext cx="1773936" cy="914400"/>
          </a:xfrm>
          <a:prstGeom prst="rect">
            <a:avLst/>
          </a:prstGeom>
          <a:noFill/>
          <a:ln/>
        </p:spPr>
        <p:txBody>
          <a:bodyPr wrap="square" rtlCol="0" anchor="ctr"/>
          <a:lstStyle/>
          <a:p>
            <a:pPr indent="0" marL="0">
              <a:buNone/>
            </a:pPr>
            <a:r>
              <a:rPr lang="en-US" sz="1400" b="1" dirty="0">
                <a:solidFill>
                  <a:srgbClr val="1C1917"/>
                </a:solidFill>
                <a:latin typeface="Georgia" pitchFamily="34" charset="0"/>
                <a:ea typeface="Georgia" pitchFamily="34" charset="-122"/>
                <a:cs typeface="Georgia" pitchFamily="34" charset="-120"/>
              </a:rPr>
              <a:t>Inspect the unverified 'compliant' entity</a:t>
            </a:r>
            <a:endParaRPr lang="en-US" sz="1400" dirty="0"/>
          </a:p>
        </p:txBody>
      </p:sp>
      <p:sp>
        <p:nvSpPr>
          <p:cNvPr id="20" name="Text 18"/>
          <p:cNvSpPr/>
          <p:nvPr/>
        </p:nvSpPr>
        <p:spPr>
          <a:xfrm>
            <a:off x="7571232" y="3611880"/>
            <a:ext cx="1773936" cy="2331720"/>
          </a:xfrm>
          <a:prstGeom prst="rect">
            <a:avLst/>
          </a:prstGeom>
          <a:noFill/>
          <a:ln/>
        </p:spPr>
        <p:txBody>
          <a:bodyPr wrap="square" rtlCol="0" anchor="t"/>
          <a:lstStyle/>
          <a:p>
            <a:pPr indent="0" marL="0">
              <a:lnSpc>
                <a:spcPct val="120000"/>
              </a:lnSpc>
              <a:buNone/>
            </a:pPr>
            <a:r>
              <a:rPr lang="en-US" sz="1000" dirty="0">
                <a:solidFill>
                  <a:srgbClr val="57534E"/>
                </a:solidFill>
                <a:latin typeface="Arial" pitchFamily="34" charset="0"/>
                <a:ea typeface="Arial" pitchFamily="34" charset="-122"/>
                <a:cs typeface="Arial" pitchFamily="34" charset="-120"/>
              </a:rPr>
              <a:t>Entity 005 is self-reported only — schedule the inspection that's already marked as planned.</a:t>
            </a:r>
            <a:endParaRPr lang="en-US" sz="1000" dirty="0"/>
          </a:p>
        </p:txBody>
      </p:sp>
      <p:sp>
        <p:nvSpPr>
          <p:cNvPr id="21" name="Shape 19"/>
          <p:cNvSpPr/>
          <p:nvPr/>
        </p:nvSpPr>
        <p:spPr>
          <a:xfrm>
            <a:off x="9692640" y="1920240"/>
            <a:ext cx="2103120" cy="4206240"/>
          </a:xfrm>
          <a:prstGeom prst="rect">
            <a:avLst/>
          </a:prstGeom>
          <a:solidFill>
            <a:srgbClr val="F4F5F3"/>
          </a:solidFill>
          <a:ln/>
        </p:spPr>
      </p:sp>
      <p:sp>
        <p:nvSpPr>
          <p:cNvPr id="22" name="Text 20"/>
          <p:cNvSpPr/>
          <p:nvPr/>
        </p:nvSpPr>
        <p:spPr>
          <a:xfrm>
            <a:off x="9857232" y="2103120"/>
            <a:ext cx="1773936" cy="548640"/>
          </a:xfrm>
          <a:prstGeom prst="rect">
            <a:avLst/>
          </a:prstGeom>
          <a:noFill/>
          <a:ln/>
        </p:spPr>
        <p:txBody>
          <a:bodyPr wrap="square" rtlCol="0" anchor="ctr"/>
          <a:lstStyle/>
          <a:p>
            <a:pPr indent="0" marL="0">
              <a:buNone/>
            </a:pPr>
            <a:r>
              <a:rPr lang="en-US" sz="2600" b="1" dirty="0">
                <a:solidFill>
                  <a:srgbClr val="C9C4BB"/>
                </a:solidFill>
                <a:latin typeface="Georgia" pitchFamily="34" charset="0"/>
                <a:ea typeface="Georgia" pitchFamily="34" charset="-122"/>
                <a:cs typeface="Georgia" pitchFamily="34" charset="-120"/>
              </a:rPr>
              <a:t>05</a:t>
            </a:r>
            <a:endParaRPr lang="en-US" sz="2600" dirty="0"/>
          </a:p>
        </p:txBody>
      </p:sp>
      <p:sp>
        <p:nvSpPr>
          <p:cNvPr id="23" name="Text 21"/>
          <p:cNvSpPr/>
          <p:nvPr/>
        </p:nvSpPr>
        <p:spPr>
          <a:xfrm>
            <a:off x="9857232" y="2697480"/>
            <a:ext cx="1773936" cy="914400"/>
          </a:xfrm>
          <a:prstGeom prst="rect">
            <a:avLst/>
          </a:prstGeom>
          <a:noFill/>
          <a:ln/>
        </p:spPr>
        <p:txBody>
          <a:bodyPr wrap="square" rtlCol="0" anchor="ctr"/>
          <a:lstStyle/>
          <a:p>
            <a:pPr indent="0" marL="0">
              <a:buNone/>
            </a:pPr>
            <a:r>
              <a:rPr lang="en-US" sz="1400" b="1" dirty="0">
                <a:solidFill>
                  <a:srgbClr val="1C1917"/>
                </a:solidFill>
                <a:latin typeface="Georgia" pitchFamily="34" charset="0"/>
                <a:ea typeface="Georgia" pitchFamily="34" charset="-122"/>
                <a:cs typeface="Georgia" pitchFamily="34" charset="-120"/>
              </a:rPr>
              <a:t>Expand South Goa outreach</a:t>
            </a:r>
            <a:endParaRPr lang="en-US" sz="1400" dirty="0"/>
          </a:p>
        </p:txBody>
      </p:sp>
      <p:sp>
        <p:nvSpPr>
          <p:cNvPr id="24" name="Text 22"/>
          <p:cNvSpPr/>
          <p:nvPr/>
        </p:nvSpPr>
        <p:spPr>
          <a:xfrm>
            <a:off x="9857232" y="3611880"/>
            <a:ext cx="1773936" cy="2331720"/>
          </a:xfrm>
          <a:prstGeom prst="rect">
            <a:avLst/>
          </a:prstGeom>
          <a:noFill/>
          <a:ln/>
        </p:spPr>
        <p:txBody>
          <a:bodyPr wrap="square" rtlCol="0" anchor="t"/>
          <a:lstStyle/>
          <a:p>
            <a:pPr indent="0" marL="0">
              <a:lnSpc>
                <a:spcPct val="120000"/>
              </a:lnSpc>
              <a:buNone/>
            </a:pPr>
            <a:r>
              <a:rPr lang="en-US" sz="1000" dirty="0">
                <a:solidFill>
                  <a:srgbClr val="57534E"/>
                </a:solidFill>
                <a:latin typeface="Arial" pitchFamily="34" charset="0"/>
                <a:ea typeface="Arial" pitchFamily="34" charset="-122"/>
                <a:cs typeface="Arial" pitchFamily="34" charset="-120"/>
              </a:rPr>
              <a:t>South Goa generates 44% of state e-waste but received only one dedicated awareness program this year.</a:t>
            </a:r>
            <a:endParaRPr lang="en-US" sz="1000" dirty="0"/>
          </a:p>
        </p:txBody>
      </p:sp>
      <p:sp>
        <p:nvSpPr>
          <p:cNvPr id="25" name="Text 23"/>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26" name="Text 24"/>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rtlCol="0" anchor="ctr"/>
          <a:lstStyle/>
          <a:p>
            <a:pPr indent="0" marL="0">
              <a:buNone/>
            </a:pPr>
            <a:r>
              <a:rPr lang="en-US" sz="1200" b="1" spc="200" kern="0" dirty="0">
                <a:solidFill>
                  <a:srgbClr val="22405C"/>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3000" b="1" dirty="0">
                <a:solidFill>
                  <a:srgbClr val="1C1917"/>
                </a:solidFill>
                <a:latin typeface="Georgia" pitchFamily="34" charset="0"/>
                <a:ea typeface="Georgia" pitchFamily="34" charset="-122"/>
                <a:cs typeface="Georgia" pitchFamily="34" charset="-120"/>
              </a:rPr>
              <a:t>District-Level Reference Map</a:t>
            </a:r>
            <a:endParaRPr lang="en-US" sz="3000" dirty="0"/>
          </a:p>
        </p:txBody>
      </p:sp>
      <p:sp>
        <p:nvSpPr>
          <p:cNvPr id="4" name="Text 2"/>
          <p:cNvSpPr/>
          <p:nvPr/>
        </p:nvSpPr>
        <p:spPr>
          <a:xfrm>
            <a:off x="548640" y="1261872"/>
            <a:ext cx="11064240" cy="365760"/>
          </a:xfrm>
          <a:prstGeom prst="rect">
            <a:avLst/>
          </a:prstGeom>
          <a:noFill/>
          <a:ln/>
        </p:spPr>
        <p:txBody>
          <a:bodyPr wrap="square" rtlCol="0" anchor="ctr"/>
          <a:lstStyle/>
          <a:p>
            <a:pPr indent="0" marL="0">
              <a:buNone/>
            </a:pPr>
            <a:r>
              <a:rPr lang="en-US" sz="1350" i="1" dirty="0">
                <a:solidFill>
                  <a:srgbClr val="57534E"/>
                </a:solidFill>
                <a:latin typeface="Arial" pitchFamily="34" charset="0"/>
                <a:ea typeface="Arial" pitchFamily="34" charset="-122"/>
                <a:cs typeface="Arial" pitchFamily="34" charset="-120"/>
              </a:rPr>
              <a:t>External research context, shown for comparison — not part of the GSPCB tracker dataset</a:t>
            </a:r>
            <a:endParaRPr lang="en-US" sz="1350" dirty="0"/>
          </a:p>
        </p:txBody>
      </p:sp>
      <p:pic>
        <p:nvPicPr>
          <p:cNvPr id="5" name="Image 0" descr="/mnt/user-data/uploads/153997.png">    </p:cNvPr>
          <p:cNvPicPr>
            <a:picLocks noChangeAspect="1"/>
          </p:cNvPicPr>
          <p:nvPr/>
        </p:nvPicPr>
        <p:blipFill>
          <a:blip r:embed="rId1"/>
          <a:stretch>
            <a:fillRect/>
          </a:stretch>
        </p:blipFill>
        <p:spPr>
          <a:xfrm>
            <a:off x="4195025" y="1645920"/>
            <a:ext cx="3798901" cy="4526280"/>
          </a:xfrm>
          <a:prstGeom prst="rect">
            <a:avLst/>
          </a:prstGeom>
        </p:spPr>
      </p:pic>
      <p:sp>
        <p:nvSpPr>
          <p:cNvPr id="6" name="Text 3"/>
          <p:cNvSpPr/>
          <p:nvPr/>
        </p:nvSpPr>
        <p:spPr>
          <a:xfrm>
            <a:off x="548640" y="6236208"/>
            <a:ext cx="11064240" cy="274320"/>
          </a:xfrm>
          <a:prstGeom prst="rect">
            <a:avLst/>
          </a:prstGeom>
          <a:noFill/>
          <a:ln/>
        </p:spPr>
        <p:txBody>
          <a:bodyPr wrap="square" rtlCol="0" anchor="ctr"/>
          <a:lstStyle/>
          <a:p>
            <a:pPr algn="ctr" indent="0" marL="0">
              <a:buNone/>
            </a:pPr>
            <a:r>
              <a:rPr lang="en-US" sz="900" i="1" dirty="0">
                <a:solidFill>
                  <a:srgbClr val="57534E"/>
                </a:solidFill>
                <a:latin typeface="Arial" pitchFamily="34" charset="0"/>
                <a:ea typeface="Arial" pitchFamily="34" charset="-122"/>
                <a:cs typeface="Arial" pitchFamily="34" charset="-120"/>
              </a:rPr>
              <a:t>Source: Forti et al., 2020 (Global E-waste Monitor) — reproduced as uploaded, for reference only.</a:t>
            </a:r>
            <a:endParaRPr lang="en-US" sz="900" dirty="0"/>
          </a:p>
        </p:txBody>
      </p:sp>
      <p:sp>
        <p:nvSpPr>
          <p:cNvPr id="7" name="Text 4"/>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8" name="Text 5"/>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2405C"/>
          </a:solidFill>
          <a:ln/>
        </p:spPr>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Sources &amp; Methodology</a:t>
            </a:r>
            <a:endParaRPr lang="en-US" sz="2600" dirty="0"/>
          </a:p>
        </p:txBody>
      </p:sp>
      <p:sp>
        <p:nvSpPr>
          <p:cNvPr id="4" name="Text 2"/>
          <p:cNvSpPr/>
          <p:nvPr/>
        </p:nvSpPr>
        <p:spPr>
          <a:xfrm>
            <a:off x="731520" y="1600200"/>
            <a:ext cx="10515600" cy="4389120"/>
          </a:xfrm>
          <a:prstGeom prst="rect">
            <a:avLst/>
          </a:prstGeom>
          <a:noFill/>
          <a:ln/>
        </p:spPr>
        <p:txBody>
          <a:bodyPr wrap="square" rtlCol="0" anchor="t"/>
          <a:lstStyle/>
          <a:p>
            <a:pPr indent="0" marL="0">
              <a:lnSpc>
                <a:spcPct val="130000"/>
              </a:lnSpc>
              <a:buNone/>
            </a:pPr>
            <a:r>
              <a:rPr lang="en-US" sz="1300" b="1" dirty="0">
                <a:solidFill>
                  <a:srgbClr val="C9B98A"/>
                </a:solidFill>
                <a:latin typeface="Arial" pitchFamily="34" charset="0"/>
                <a:ea typeface="Arial" pitchFamily="34" charset="-122"/>
                <a:cs typeface="Arial" pitchFamily="34" charset="-120"/>
              </a:rPr>
              <a:t>Data:  </a:t>
            </a:r>
            <a:pPr indent="0" marL="0">
              <a:lnSpc>
                <a:spcPct val="130000"/>
              </a:lnSpc>
              <a:buNone/>
            </a:pPr>
            <a:r>
              <a:rPr lang="en-US" sz="1300" dirty="0">
                <a:solidFill>
                  <a:srgbClr val="E4E1D9"/>
                </a:solidFill>
                <a:latin typeface="Arial" pitchFamily="34" charset="0"/>
                <a:ea typeface="Arial" pitchFamily="34" charset="-122"/>
                <a:cs typeface="Arial" pitchFamily="34" charset="-120"/>
              </a:rPr>
              <a:t>Goa E-Waste Tracker — a 7-sheet operational dataset covering generation, collection, formal recycling, EPR compliance, informal-sector hotspots, environmental/health monitoring and awareness programs, structured around the E-Waste (Management) Rules, 2022 (CPCB, India) as implemented by the Goa State Pollution Control Board (GSPCB).
</a:t>
            </a:r>
            <a:pPr indent="0" marL="0">
              <a:lnSpc>
                <a:spcPct val="130000"/>
              </a:lnSpc>
              <a:buNone/>
            </a:pPr>
            <a:r>
              <a:rPr lang="en-US" sz="1300" b="1" dirty="0">
                <a:solidFill>
                  <a:srgbClr val="C9B98A"/>
                </a:solidFill>
                <a:latin typeface="Arial" pitchFamily="34" charset="0"/>
                <a:ea typeface="Arial" pitchFamily="34" charset="-122"/>
                <a:cs typeface="Arial" pitchFamily="34" charset="-120"/>
              </a:rPr>
              <a:t>Population:  </a:t>
            </a:r>
            <a:pPr indent="0" marL="0">
              <a:lnSpc>
                <a:spcPct val="130000"/>
              </a:lnSpc>
              <a:buNone/>
            </a:pPr>
            <a:r>
              <a:rPr lang="en-US" sz="1300" dirty="0">
                <a:solidFill>
                  <a:srgbClr val="E4E1D9"/>
                </a:solidFill>
                <a:latin typeface="Arial" pitchFamily="34" charset="0"/>
                <a:ea typeface="Arial" pitchFamily="34" charset="-122"/>
                <a:cs typeface="Arial" pitchFamily="34" charset="-120"/>
              </a:rPr>
              <a:t>Census 2011 district totals (North Goa 818,008 · South Goa 640,537); to be refreshed once Census 2027 / GSPCB projections are published.
</a:t>
            </a:r>
            <a:pPr indent="0" marL="0">
              <a:lnSpc>
                <a:spcPct val="130000"/>
              </a:lnSpc>
              <a:buNone/>
            </a:pPr>
            <a:r>
              <a:rPr lang="en-US" sz="1300" b="1" dirty="0">
                <a:solidFill>
                  <a:srgbClr val="C9B98A"/>
                </a:solidFill>
                <a:latin typeface="Arial" pitchFamily="34" charset="0"/>
                <a:ea typeface="Arial" pitchFamily="34" charset="-122"/>
                <a:cs typeface="Arial" pitchFamily="34" charset="-120"/>
              </a:rPr>
              <a:t>Coverage window:  </a:t>
            </a:r>
            <a:pPr indent="0" marL="0">
              <a:lnSpc>
                <a:spcPct val="130000"/>
              </a:lnSpc>
              <a:buNone/>
            </a:pPr>
            <a:r>
              <a:rPr lang="en-US" sz="1300" dirty="0">
                <a:solidFill>
                  <a:srgbClr val="E4E1D9"/>
                </a:solidFill>
                <a:latin typeface="Arial" pitchFamily="34" charset="0"/>
                <a:ea typeface="Arial" pitchFamily="34" charset="-122"/>
                <a:cs typeface="Arial" pitchFamily="34" charset="-120"/>
              </a:rPr>
              <a:t>FY 2025–26, data current to 31 March 2026. Recommended refresh cycle: quarterly or annual, tracked against the tracker's built-in scorecard.
</a:t>
            </a:r>
            <a:pPr indent="0" marL="0">
              <a:lnSpc>
                <a:spcPct val="130000"/>
              </a:lnSpc>
              <a:buNone/>
            </a:pPr>
            <a:r>
              <a:rPr lang="en-US" sz="1300" b="1" dirty="0">
                <a:solidFill>
                  <a:srgbClr val="C9B98A"/>
                </a:solidFill>
                <a:latin typeface="Arial" pitchFamily="34" charset="0"/>
                <a:ea typeface="Arial" pitchFamily="34" charset="-122"/>
                <a:cs typeface="Arial" pitchFamily="34" charset="-120"/>
              </a:rPr>
              <a:t>Note:  </a:t>
            </a:r>
            <a:pPr indent="0" marL="0">
              <a:lnSpc>
                <a:spcPct val="130000"/>
              </a:lnSpc>
              <a:buNone/>
            </a:pPr>
            <a:r>
              <a:rPr lang="en-US" sz="1300" dirty="0">
                <a:solidFill>
                  <a:srgbClr val="E4E1D9"/>
                </a:solidFill>
                <a:latin typeface="Arial" pitchFamily="34" charset="0"/>
                <a:ea typeface="Arial" pitchFamily="34" charset="-122"/>
                <a:cs typeface="Arial" pitchFamily="34" charset="-120"/>
              </a:rPr>
              <a:t>The tracker's benchmark values on the scorecard sheet are placeholders pending state-specific targets; scores in this deck are drawn directly from the underlying data sheets rather than the unset scorecard formulas. The district reference map (previous page) is an external source, included for comparison only.</a:t>
            </a:r>
            <a:endParaRPr lang="en-US" sz="1300" dirty="0"/>
          </a:p>
        </p:txBody>
      </p:sp>
      <p:sp>
        <p:nvSpPr>
          <p:cNvPr id="5" name="Text 3"/>
          <p:cNvSpPr/>
          <p:nvPr/>
        </p:nvSpPr>
        <p:spPr>
          <a:xfrm>
            <a:off x="457200" y="6565392"/>
            <a:ext cx="8686800" cy="256032"/>
          </a:xfrm>
          <a:prstGeom prst="rect">
            <a:avLst/>
          </a:prstGeom>
          <a:noFill/>
          <a:ln/>
        </p:spPr>
        <p:txBody>
          <a:bodyPr wrap="square" rtlCol="0" anchor="ctr"/>
          <a:lstStyle/>
          <a:p>
            <a:pPr algn="l" indent="0" marL="0">
              <a:buNone/>
            </a:pPr>
            <a:r>
              <a:rPr lang="en-US" sz="800" dirty="0">
                <a:solidFill>
                  <a:srgbClr val="A8A29E"/>
                </a:solidFill>
                <a:latin typeface="Arial" pitchFamily="34" charset="0"/>
                <a:ea typeface="Arial" pitchFamily="34" charset="-122"/>
                <a:cs typeface="Arial" pitchFamily="34" charset="-120"/>
              </a:rPr>
              <a:t>GOA E-WASTE TRACKER  ·  GSPCB / CPCB E-Waste (Management) Rules, 2022  ·  Data as of 31-03-2026</a:t>
            </a:r>
            <a:endParaRPr lang="en-US" sz="800" dirty="0"/>
          </a:p>
        </p:txBody>
      </p:sp>
      <p:sp>
        <p:nvSpPr>
          <p:cNvPr id="6" name="Text 4"/>
          <p:cNvSpPr/>
          <p:nvPr/>
        </p:nvSpPr>
        <p:spPr>
          <a:xfrm>
            <a:off x="11338560" y="6565392"/>
            <a:ext cx="457200" cy="256032"/>
          </a:xfrm>
          <a:prstGeom prst="rect">
            <a:avLst/>
          </a:prstGeom>
          <a:noFill/>
          <a:ln/>
        </p:spPr>
        <p:txBody>
          <a:bodyPr wrap="square" rtlCol="0" anchor="ctr"/>
          <a:lstStyle/>
          <a:p>
            <a:pPr algn="r" indent="0" marL="0">
              <a:buNone/>
            </a:pPr>
            <a:r>
              <a:rPr lang="en-US" sz="800" dirty="0">
                <a:solidFill>
                  <a:srgbClr val="A8A29E"/>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7A232B3FA31C48ADAF29702DE3C893" ma:contentTypeVersion="12" ma:contentTypeDescription="Create a new document." ma:contentTypeScope="" ma:versionID="9733aeacb51a31fd2347aff2540d3a50">
  <xsd:schema xmlns:xsd="http://www.w3.org/2001/XMLSchema" xmlns:xs="http://www.w3.org/2001/XMLSchema" xmlns:p="http://schemas.microsoft.com/office/2006/metadata/properties" xmlns:ns2="dd5b6b3d-3d39-4526-b8e4-79d21e1438f0" xmlns:ns3="44678d20-5b6e-4792-b133-ca784477d689" targetNamespace="http://schemas.microsoft.com/office/2006/metadata/properties" ma:root="true" ma:fieldsID="37926f2f1ae8b3f68e3dbd3dffff8aa9" ns2:_="" ns3:_="">
    <xsd:import namespace="dd5b6b3d-3d39-4526-b8e4-79d21e1438f0"/>
    <xsd:import namespace="44678d20-5b6e-4792-b133-ca784477d68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b6b3d-3d39-4526-b8e4-79d21e1438f0"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5c09e8c-4242-4efc-8aa0-958213fa9c5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678d20-5b6e-4792-b133-ca784477d68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e8ad495-3829-482e-ad1b-cf0f2662c940}" ma:internalName="TaxCatchAll" ma:showField="CatchAllData" ma:web="44678d20-5b6e-4792-b133-ca784477d6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d5b6b3d-3d39-4526-b8e4-79d21e1438f0">
      <Terms xmlns="http://schemas.microsoft.com/office/infopath/2007/PartnerControls"/>
    </lcf76f155ced4ddcb4097134ff3c332f>
    <TaxCatchAll xmlns="44678d20-5b6e-4792-b133-ca784477d689" xsi:nil="true"/>
    <ReferenceId xmlns="dd5b6b3d-3d39-4526-b8e4-79d21e1438f0" xsi:nil="true"/>
  </documentManagement>
</p:properties>
</file>

<file path=customXml/itemProps1.xml><?xml version="1.0" encoding="utf-8"?>
<ds:datastoreItem xmlns:ds="http://schemas.openxmlformats.org/officeDocument/2006/customXml" ds:itemID="{282358B9-8CFD-49F3-A58E-ADA8B05B717F}"/>
</file>

<file path=customXml/itemProps2.xml><?xml version="1.0" encoding="utf-8"?>
<ds:datastoreItem xmlns:ds="http://schemas.openxmlformats.org/officeDocument/2006/customXml" ds:itemID="{034FA3A0-5286-46B4-9958-8EB5EE999E68}"/>
</file>

<file path=customXml/itemProps3.xml><?xml version="1.0" encoding="utf-8"?>
<ds:datastoreItem xmlns:ds="http://schemas.openxmlformats.org/officeDocument/2006/customXml" ds:itemID="{D6714460-0A84-41E4-891E-D072EBBD570C}"/>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2026-08-10T09:09:03Z</dcterms:created>
  <dcterms:modified xsi:type="dcterms:W3CDTF">2026-08-10T09:09:03Z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0x010100B17A232B3FA31C48ADAF29702DE3C893</vt:lpwstr>
  </property>
</Properties>
</file>