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customXml" Target="../customXml/item2.xml"/><Relationship Id="rId3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customXml" Target="../customXml/item1.xml"/><Relationship Id="rId2" Type="http://schemas.openxmlformats.org/officeDocument/2006/relationships/printerSettings" Target="printerSettings/printerSettings1.bin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0" Type="http://schemas.openxmlformats.org/officeDocument/2006/relationships/slide" Target="slides/slide4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1  |  Japan’s Recycling System: Lessons for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Japan’s approach links household sorting, municipal collection, producer obligations and contracted recyclers. The key lesson is coordinated implementation—not simply a high recycling claim.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Packaging waste and limited landfill capacity helped motivate Japan’s Containers and Packaging Recycling Act (1995). Households sort; municipalities collect; recyclers recover materials.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Separate eligible packaging at source using local instructions.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Municipalities collect sorted material and transfer it into the recycling chain.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Producer-side obligations and a coordinating association support contracted recycling.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Historical context: packaging was about 60% of household waste by volume. No single current rate for all waste streams is provided by the cited sources; packaging metrics should not be confused with total-waste rates.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9875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48840"/>
              </a:tblGrid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Act enacted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1995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Packaging share (historical)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~60% by household-waste volume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Defined roles and established collection chain.  W: Sorting rules vary; contamination/participation remain concerns.  O: Reuse, refill and clearer reporting.  T: Mixed/low-value packaging and consumer fatigue.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India’s E-Waste Rules 2022 establish national EPR and registered-recycler requirements. Japan’s source-separation and municipal hand-off practices may inform local collection, but India must adapt them to varied infrastructure and informal-sector realities.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Use simple multilingual sorting instructions; publish reliable collection schedules; trace hand-offs to authorized processors; audit physical recovery and contamination.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Coordinated responsibilities—from households to recyclers—are the transferable lesson. Adapt the system to local conditions rather than copying it wholesale.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Japan Containers and Packaging Recycling Association (JCPRA), “Point of Act” and “Recycling Process” (R1–R2); CPCB E-Waste Rules FAQ (R3).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91072"/>
            <a:ext cx="1133856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B4B4B"/>
                </a:solidFill>
                <a:latin typeface="Calibri"/>
              </a:rPr>
              <a:t>MSE 2 • Snehal C. Thombare • 25102A2008 • TY CO / CMPN A • 2026–2027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2  |  Switzerland’s E-Waste Success Story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Switzerland’s industry-supported take-back system combines advance recycling contributions (ARCs), convenient return points and controlled specialist recycling through Swico and SENS.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E-waste contains recoverable materials and components needing careful treatment. Switzerland developed producer/importer-funded take-back systems; the advance contribution helps finance collection and recycling.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Consumers pay an advance recycling contribution with covered products.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Retailers, municipalities and collection points accept end-of-life electronics.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Swico/SENS coordinate specialist recycling partners and publish operational information.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In 2024, Swico and SENS together processed about 135,200 tonnes of WEEE. SENS reported 100,762 tonnes, 11.14 kg per resident, 1,469 obligated manufacturers/importers and 442 official collection points.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48840"/>
              </a:tblGrid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Swico + SENS WEEE processed (2024)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~135,200 t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SENS processed (2024)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100,762 t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SENS per resident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11.14 kg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SENS collection points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442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Convenient take-back, earmarked financing, specialist processing.  W: Needs durable governance and adequate fees.  O: More repair, reuse and critical-material recovery.  T: Rising costs, complex products and uncontrolled flows.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India’s EPR rules also assign producer obligations, but collection access and processing capacity vary across a much larger geography. Switzerland offers ideas for visible return points and transparent financing; India needs verification and informal-sector inclusion.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Pilot retailer/campus return points; publish collection and recycling data with consistent definitions; fund safe processing; connect informal collectors to authorized recyclers.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Dedicated financing plus convenient collection and verified processing can reinforce each other. Adapt these elements to India’s scale and local systems.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SENS eRecycling Technical Report 2025 and 2024 facts/figures; Swico Recycling facts and figures; CPCB E-Waste Rules FAQ (R3, R5–R7).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91072"/>
            <a:ext cx="1133856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B4B4B"/>
                </a:solidFill>
                <a:latin typeface="Calibri"/>
              </a:rPr>
              <a:t>MSE 2 • Snehal C. Thombare • 25102A2008 • TY CO / CMPN A • 2026–2027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3  |  India’s E-Waste Management Rules,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The Rules establish a centralized Extended Producer Responsibility (EPR) framework, with registration, recycling obligations, portal-based certificates, returns, audits and environmental compensation.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E-waste includes valuable materials and components requiring controlled handling. The Rules cover specified electrical/electronic equipment and relevant manufacturers, producers, refurbishers and recyclers.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Registration through the CPCB online portal for covered entities.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Producers meet EPR obligations through certificates linked to recycling by registered recyclers.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Returns, audits and environmental compensation support compliance; refurbishment is also recognized.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The framework became effective on 1 April 2023. CPCB’s FAQ describes coverage of 106 EEE items across seven categories. Actual outcomes still depend on collection, verified processing, capacity and enforcement.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48840"/>
              </a:tblGrid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Rules notified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2 Nov 2022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Effective date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 Apr 2023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Covered EEE items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106 across 7 categories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  <a:tr h="3291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Compliance tools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Portal, certificates, returns, audits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National framework, digital records and targets.  W: Portal compliance alone cannot ensure complete collection or safe treatment.  O: Traceability, repair/refurbishment and collection expansion.  T: False records, unregistered processing and weak enforcement.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This is India’s national policy framework. Its results depend on state/local implementation, accessible collection, registered recycler capacity and credible monitoring. Switzerland’s take-back model illustrates how collection convenience can complement EPR.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Audit mass balance from collected input to outputs/residues; expand collection points; publish comparable target and outcome data; train and safely integrate informal collectors.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Judge the Rules by verified collection, safe treatment and material recovery—not registrations or certificates alone.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CPCB, FAQ: E-Waste (Management) Rules, 2022; CPCB E-Waste Management System portal; MoEFCC rules listing (R3, R8–R9).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91072"/>
            <a:ext cx="1133856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B4B4B"/>
                </a:solidFill>
                <a:latin typeface="Calibri"/>
              </a:rPr>
              <a:t>MSE 2 • Snehal C. Thombare • 25102A2008 • TY CO / CMPN A • 2026–2027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4  |  India’s EPR: Success or Paper Compliance?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EPR shifts end-of-life responsibility toward producers. The key question is whether certificates and reported compliance correspond to physical collection, verified recycling and safe residue management.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India’s e-waste EPR uses registration, targets, certificates and returns. Potential gaps include uncollected products, untracked informal processing, inaccurate records and uneven recycling capacity.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Track the chain: products placed on market → waste collected → verified processing → recovered outputs/residues → certificates.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Reconcile portal claims with recycler records, capacity, physical inputs and downstream material sales.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Use risk-based audits and public reporting to distinguish documentation from outcomes.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A 2026 secondary analysis reports target achievement of 92.15% in FY 2023–24 and 48.32% in FY 2024–25. These are the paper’s reported figures and should be cross-checked against official CPCB data before being treated as definitive.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48840"/>
              </a:tblGrid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Reported target achievement, FY23–24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92.15%*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Reported target achievement, FY24–25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48.32%*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*Qualification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Secondary study; verify against CPCB data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Producer responsibility, digital records and enforcement provisions.  W: Certificates may not equal full physical recovery.  O: Independent mass-balance audits and better collection.  T: Fraud, weak traceability and neglect of low-value streams.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Compared with Switzerland’s advance-fee take-back and collection network, India emphasizes target/certificate compliance. Both need transparent financing, convenient returns and independently verified material flows.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Publish audited input-output-residue data; report targets alongside actual quantities and coverage; audit certificates and recycler capacity; reward safe collection and worker inclusion.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EPR is an environmental outcome system, not just paperwork. Certificates are meaningful when backed by traceable material flows and credible verification.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CPCB E-Waste Rules FAQ and portal (R3, R9); Sharma &amp; Pandey (2026), IJFMR secondary analysis (R10).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91072"/>
            <a:ext cx="1133856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B4B4B"/>
                </a:solidFill>
                <a:latin typeface="Calibri"/>
              </a:rPr>
              <a:t>MSE 2 • Snehal C. Thombare • 25102A2008 • TY CO / CMPN A • 2026–2027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64592"/>
            <a:ext cx="11521440" cy="438912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2000" b="1">
                <a:solidFill>
                  <a:srgbClr val="000000"/>
                </a:solidFill>
                <a:latin typeface="Calibri"/>
              </a:rPr>
              <a:t>CASE 5  |  Bengaluru—India’s E-Waste Capital?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30936"/>
            <a:ext cx="11338560" cy="292608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0">
                <a:solidFill>
                  <a:srgbClr val="4B4B4B"/>
                </a:solidFill>
                <a:latin typeface="Calibri"/>
              </a:rPr>
              <a:t>Bengaluru is a useful urban case because of its technology-sector and electronics use. However, the “capital” label is a question, not a verified ranking in the supplied title or sources.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BACKGROUND</a:t>
            </a:r>
          </a:p>
          <a:p>
            <a:pPr>
              <a:spcAft>
                <a:spcPts val="100"/>
              </a:spcAft>
            </a:pPr>
            <a:r>
              <a:rPr sz="900" b="0">
                <a:solidFill>
                  <a:srgbClr val="000000"/>
                </a:solidFill>
                <a:latin typeface="Calibri"/>
              </a:rPr>
              <a:t>Households, IT offices, institutions and retailers generate end-of-life electronics. City comparisons require consistent definitions of generated, collected, reused and formally recycled e-waste.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78807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STRATEGY / INITIATIVE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Map sources: households, corporate IT, campuses, retailers and repair markets.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Use producer take-back and registered recyclers under national EPR rules.</a:t>
            </a:r>
          </a:p>
          <a:p>
            <a:pPr>
              <a:spcAft>
                <a:spcPts val="100"/>
              </a:spcAft>
            </a:pPr>
            <a:r>
              <a:rPr sz="880" b="0">
                <a:solidFill>
                  <a:srgbClr val="000000"/>
                </a:solidFill>
                <a:latin typeface="Calibri"/>
              </a:rPr>
              <a:t>• Offer secure data wiping/destruction for institutional devices; coordinate local bodies, regulators and collectors.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37575" y="1024128"/>
            <a:ext cx="3730752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&amp; RESULTS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No current comparable official Bengaluru-only generation/recycling series was established in the sources used for this presentation. This is a data gap, not evidence of no activity.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67712"/>
            <a:ext cx="1124712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IMPACT DATA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523744"/>
          <a:ext cx="544068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148840"/>
              </a:tblGrid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Value / scope</a:t>
                      </a:r>
                    </a:p>
                  </a:txBody>
                  <a:tcPr marL="45720" marR="45720" marT="18288" marB="18288" anchor="ctr">
                    <a:solidFill>
                      <a:srgbClr val="E1E5E8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City generation / formal recycling totals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Not established in consulted sources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National framework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E-Waste Rules 2022; effective 1 Apr 2023</a:t>
                      </a:r>
                    </a:p>
                  </a:txBody>
                  <a:tcPr marL="45720" marR="45720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Priority measurement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19" b="0">
                          <a:solidFill>
                            <a:srgbClr val="000000"/>
                          </a:solidFill>
                          <a:latin typeface="Calibri"/>
                        </a:rPr>
                        <a:t>Separate generated, collected, reused, recycled and residual quantities</a:t>
                      </a:r>
                    </a:p>
                  </a:txBody>
                  <a:tcPr marL="45720" marR="45720" marT="18288" marB="18288" anchor="ctr">
                    <a:solidFill>
                      <a:srgbClr val="F5F6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89320" y="2523744"/>
            <a:ext cx="5806440" cy="11430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SWOT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S: Concentrated institutional and technology-sector users enable organized take-back.  W: Fragmented city data and collection channels.  O: Corporate asset-return programs, campus drives and tracking.  T: Unsafe dismantling, data-security concerns and unregistered channels.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3977639"/>
            <a:ext cx="553212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COMPARISON WITH INDIA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National EPR rules provide the compliance framework, but Bengaluru needs local collection access and verified city data. Compared with worker-centred SWaCH or state coordination in Kerala, Bengaluru can focus on bulk institutional generators and secure IT retirement.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3977639"/>
            <a:ext cx="5806440" cy="96012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RECOMMENDATIONS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Create a city baseline with clear definitions; require documented take-back for public institutions/large IT users; add retailer and ward-level drop-off points; integrate informal collectors safely.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5102352"/>
            <a:ext cx="553212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CONCLUSION</a:t>
            </a:r>
          </a:p>
          <a:p>
            <a:pPr>
              <a:spcAft>
                <a:spcPts val="100"/>
              </a:spcAft>
            </a:pPr>
            <a:r>
              <a:rPr sz="869" b="0">
                <a:solidFill>
                  <a:srgbClr val="000000"/>
                </a:solidFill>
                <a:latin typeface="Calibri"/>
              </a:rPr>
              <a:t>Bengaluru is a relevant case for urban e-waste governance. Any claim that it is India’s largest must be supported by comparable, current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5102352"/>
            <a:ext cx="5806440" cy="914400"/>
          </a:xfrm>
          <a:prstGeom prst="roundRect">
            <a:avLst/>
          </a:prstGeom>
          <a:solidFill>
            <a:srgbClr val="F5F6F7"/>
          </a:solidFill>
          <a:ln>
            <a:solidFill>
              <a:srgbClr val="E1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54864"/>
          <a:lstStyle/>
          <a:p>
            <a:pPr algn="ctr">
              <a:spcAft>
                <a:spcPts val="300"/>
              </a:spcAft>
            </a:pPr>
            <a:r>
              <a:rPr sz="1000" b="1">
                <a:solidFill>
                  <a:srgbClr val="000000"/>
                </a:solidFill>
                <a:latin typeface="Calibri"/>
              </a:rPr>
              <a:t>REFERENCES / EVIDENCE</a:t>
            </a:r>
          </a:p>
          <a:p>
            <a:pPr>
              <a:spcAft>
                <a:spcPts val="100"/>
              </a:spcAft>
            </a:pPr>
            <a:r>
              <a:rPr sz="780" b="0">
                <a:solidFill>
                  <a:srgbClr val="000000"/>
                </a:solidFill>
                <a:latin typeface="Calibri"/>
              </a:rPr>
              <a:t>CPCB E-Waste Rules FAQ and portal (R3, R9); ITU/UNITAR, Global E-waste Monitor 2024 (R11).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291072"/>
            <a:ext cx="11338560" cy="228600"/>
          </a:xfrm>
          <a:prstGeom prst="rect">
            <a:avLst/>
          </a:prstGeom>
          <a:noFill/>
        </p:spPr>
        <p:txBody>
          <a:bodyPr wrap="square" lIns="64008" rIns="64008" tIns="64008" bIns="64008">
            <a:spAutoFit/>
          </a:bodyPr>
          <a:lstStyle/>
          <a:p>
            <a:pPr>
              <a:spcAft>
                <a:spcPts val="0"/>
              </a:spcAft>
            </a:pPr>
            <a:r>
              <a:rPr sz="800" b="0">
                <a:solidFill>
                  <a:srgbClr val="4B4B4B"/>
                </a:solidFill>
                <a:latin typeface="Calibri"/>
              </a:rPr>
              <a:t>MSE 2 • Snehal C. Thombare • 25102A2008 • TY CO / CMPN A •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17A232B3FA31C48ADAF29702DE3C893" ma:contentTypeVersion="12" ma:contentTypeDescription="Create a new document." ma:contentTypeScope="" ma:versionID="9733aeacb51a31fd2347aff2540d3a50">
  <xsd:schema xmlns:xsd="http://www.w3.org/2001/XMLSchema" xmlns:xs="http://www.w3.org/2001/XMLSchema" xmlns:p="http://schemas.microsoft.com/office/2006/metadata/properties" xmlns:ns2="dd5b6b3d-3d39-4526-b8e4-79d21e1438f0" xmlns:ns3="44678d20-5b6e-4792-b133-ca784477d689" targetNamespace="http://schemas.microsoft.com/office/2006/metadata/properties" ma:root="true" ma:fieldsID="37926f2f1ae8b3f68e3dbd3dffff8aa9" ns2:_="" ns3:_="">
    <xsd:import namespace="dd5b6b3d-3d39-4526-b8e4-79d21e1438f0"/>
    <xsd:import namespace="44678d20-5b6e-4792-b133-ca784477d68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d5b6b3d-3d39-4526-b8e4-79d21e1438f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4678d20-5b6e-4792-b133-ca784477d68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ae8ad495-3829-482e-ad1b-cf0f2662c940}" ma:internalName="TaxCatchAll" ma:showField="CatchAllData" ma:web="44678d20-5b6e-4792-b133-ca784477d68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d5b6b3d-3d39-4526-b8e4-79d21e1438f0">
      <Terms xmlns="http://schemas.microsoft.com/office/infopath/2007/PartnerControls"/>
    </lcf76f155ced4ddcb4097134ff3c332f>
    <TaxCatchAll xmlns="44678d20-5b6e-4792-b133-ca784477d689" xsi:nil="true"/>
    <ReferenceId xmlns="dd5b6b3d-3d39-4526-b8e4-79d21e1438f0" xsi:nil="true"/>
  </documentManagement>
</p:properties>
</file>

<file path=customXml/itemProps1.xml><?xml version="1.0" encoding="utf-8"?>
<ds:datastoreItem xmlns:ds="http://schemas.openxmlformats.org/officeDocument/2006/customXml" ds:itemID="{47372950-06F3-4501-B163-7EE92DB49A0F}"/>
</file>

<file path=customXml/itemProps2.xml><?xml version="1.0" encoding="utf-8"?>
<ds:datastoreItem xmlns:ds="http://schemas.openxmlformats.org/officeDocument/2006/customXml" ds:itemID="{113A7769-D00E-4974-85DA-87AA07FD0F77}"/>
</file>

<file path=customXml/itemProps3.xml><?xml version="1.0" encoding="utf-8"?>
<ds:datastoreItem xmlns:ds="http://schemas.openxmlformats.org/officeDocument/2006/customXml" ds:itemID="{EFAC88B8-8534-4A2B-A0F1-2EDD6BC7CF53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0x010100B17A232B3FA31C48ADAF29702DE3C893</vt:lpwstr>
  </property>
</Properties>
</file>